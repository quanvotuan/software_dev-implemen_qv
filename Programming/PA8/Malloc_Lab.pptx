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56" r:id="rId5"/>
    <p:sldId id="258" r:id="rId6"/>
    <p:sldId id="268" r:id="rId7"/>
    <p:sldId id="260" r:id="rId8"/>
    <p:sldId id="270" r:id="rId9"/>
    <p:sldId id="271" r:id="rId10"/>
    <p:sldId id="272" r:id="rId11"/>
    <p:sldId id="273" r:id="rId12"/>
    <p:sldId id="274" r:id="rId13"/>
    <p:sldId id="275" r:id="rId14"/>
    <p:sldId id="276" r:id="rId15"/>
    <p:sldId id="277" r:id="rId16"/>
    <p:sldId id="281" r:id="rId17"/>
    <p:sldId id="280" r:id="rId18"/>
    <p:sldId id="278"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autoAdjust="0"/>
    <p:restoredTop sz="90704" autoAdjust="0"/>
  </p:normalViewPr>
  <p:slideViewPr>
    <p:cSldViewPr snapToGrid="0">
      <p:cViewPr varScale="1">
        <p:scale>
          <a:sx n="84" d="100"/>
          <a:sy n="84" d="100"/>
        </p:scale>
        <p:origin x="211" y="3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11/7/2023</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11/7/2023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7" name="Group 6">
            <a:extLst>
              <a:ext uri="{FF2B5EF4-FFF2-40B4-BE49-F238E27FC236}">
                <a16:creationId xmlns:a16="http://schemas.microsoft.com/office/drawing/2014/main" id="{D7A1CF8B-3479-49A3-A30E-2F2ECE962075}"/>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US"/>
              <a:t>Click icon to add chart</a:t>
            </a:r>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US"/>
              <a:t>Click icon to add table</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lstStyle/>
          <a:p>
            <a:pPr lvl="1"/>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US"/>
              <a:t>Click icon to add picture</a:t>
            </a:r>
            <a:endParaRPr lang="en-US" dirty="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US"/>
              <a:t>Click icon to add SmartArt graphic</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US"/>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16040" y="4434840"/>
            <a:ext cx="4941771" cy="1122202"/>
          </a:xfrm>
        </p:spPr>
        <p:txBody>
          <a:bodyPr/>
          <a:lstStyle/>
          <a:p>
            <a:r>
              <a:rPr lang="en-US" dirty="0"/>
              <a:t>Malloc Lab</a:t>
            </a:r>
          </a:p>
        </p:txBody>
      </p:sp>
      <p:sp>
        <p:nvSpPr>
          <p:cNvPr id="3" name="Subtitle 2">
            <a:extLst>
              <a:ext uri="{FF2B5EF4-FFF2-40B4-BE49-F238E27FC236}">
                <a16:creationId xmlns:a16="http://schemas.microsoft.com/office/drawing/2014/main" id="{0236A1B4-B8D1-4A72-8E20-0703F54BF1FE}"/>
              </a:ext>
            </a:extLst>
          </p:cNvPr>
          <p:cNvSpPr>
            <a:spLocks noGrp="1"/>
          </p:cNvSpPr>
          <p:nvPr>
            <p:ph type="subTitle" idx="1"/>
          </p:nvPr>
        </p:nvSpPr>
        <p:spPr>
          <a:xfrm>
            <a:off x="6416041" y="5586890"/>
            <a:ext cx="4941770" cy="396660"/>
          </a:xfrm>
        </p:spPr>
        <p:txBody>
          <a:bodyPr>
            <a:normAutofit/>
          </a:bodyPr>
          <a:lstStyle/>
          <a:p>
            <a:r>
              <a:rPr lang="en-US" dirty="0"/>
              <a:t>Jason Math</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62075" y="1671639"/>
            <a:ext cx="5111750" cy="1204912"/>
          </a:xfrm>
        </p:spPr>
        <p:txBody>
          <a:bodyPr/>
          <a:lstStyle/>
          <a:p>
            <a:r>
              <a:rPr lang="en-US" dirty="0"/>
              <a:t>Interface</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362075" y="3660773"/>
            <a:ext cx="6226080" cy="2062187"/>
          </a:xfrm>
        </p:spPr>
        <p:txBody>
          <a:bodyPr>
            <a:normAutofit/>
          </a:bodyPr>
          <a:lstStyle/>
          <a:p>
            <a:pPr>
              <a:lnSpc>
                <a:spcPct val="150000"/>
              </a:lnSpc>
            </a:pPr>
            <a:r>
              <a:rPr lang="en-US" sz="2000" dirty="0"/>
              <a:t>void* malloc();</a:t>
            </a:r>
          </a:p>
          <a:p>
            <a:pPr>
              <a:lnSpc>
                <a:spcPct val="150000"/>
              </a:lnSpc>
            </a:pPr>
            <a:r>
              <a:rPr lang="en-US" sz="2000" dirty="0"/>
              <a:t>void free(void* </a:t>
            </a:r>
            <a:r>
              <a:rPr lang="en-US" sz="2000" dirty="0" err="1"/>
              <a:t>ptr</a:t>
            </a:r>
            <a:r>
              <a:rPr lang="en-US" sz="2000" dirty="0"/>
              <a:t>);</a:t>
            </a:r>
          </a:p>
          <a:p>
            <a:pPr>
              <a:lnSpc>
                <a:spcPct val="150000"/>
              </a:lnSpc>
            </a:pPr>
            <a:r>
              <a:rPr lang="en-US" sz="2000" dirty="0"/>
              <a:t>void* </a:t>
            </a:r>
            <a:r>
              <a:rPr lang="en-US" sz="2000" dirty="0" err="1"/>
              <a:t>realloc</a:t>
            </a:r>
            <a:r>
              <a:rPr lang="en-US" sz="2000" dirty="0"/>
              <a:t>(void* </a:t>
            </a:r>
            <a:r>
              <a:rPr lang="en-US" sz="2000" dirty="0" err="1"/>
              <a:t>ptr</a:t>
            </a:r>
            <a:r>
              <a:rPr lang="en-US" sz="2000" dirty="0"/>
              <a:t>, </a:t>
            </a:r>
            <a:r>
              <a:rPr lang="en-US" sz="2000" dirty="0" err="1"/>
              <a:t>size_t</a:t>
            </a:r>
            <a:r>
              <a:rPr lang="en-US" sz="2000" dirty="0"/>
              <a:t> </a:t>
            </a:r>
            <a:r>
              <a:rPr lang="en-US" sz="2000" dirty="0" err="1"/>
              <a:t>new_size</a:t>
            </a:r>
            <a:r>
              <a:rPr lang="en-US" sz="2000" dirty="0"/>
              <a:t>);</a:t>
            </a:r>
          </a:p>
        </p:txBody>
      </p:sp>
      <p:sp>
        <p:nvSpPr>
          <p:cNvPr id="5" name="Footer Placeholder 4">
            <a:extLst>
              <a:ext uri="{FF2B5EF4-FFF2-40B4-BE49-F238E27FC236}">
                <a16:creationId xmlns:a16="http://schemas.microsoft.com/office/drawing/2014/main" id="{8D51ED20-04D4-4894-B0C2-9C541A61A734}"/>
              </a:ext>
            </a:extLst>
          </p:cNvPr>
          <p:cNvSpPr>
            <a:spLocks noGrp="1"/>
          </p:cNvSpPr>
          <p:nvPr>
            <p:ph type="ftr" sz="quarter" idx="11"/>
          </p:nvPr>
        </p:nvSpPr>
        <p:spPr>
          <a:xfrm>
            <a:off x="1362075" y="6050436"/>
            <a:ext cx="5702110" cy="611827"/>
          </a:xfrm>
        </p:spPr>
        <p:txBody>
          <a:bodyPr/>
          <a:lstStyle/>
          <a:p>
            <a:pPr algn="l"/>
            <a:r>
              <a:rPr lang="en-US" sz="1200" dirty="0"/>
              <a:t>* for this lab, we will use uint32_t instead of void* since we will not be directly interacting with the heap, and a pointer is technically just a uint32_t on some OS </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51C395-6BC4-4F00-B40B-069DBBB7C08B}"/>
              </a:ext>
            </a:extLst>
          </p:cNvPr>
          <p:cNvSpPr>
            <a:spLocks noGrp="1"/>
          </p:cNvSpPr>
          <p:nvPr>
            <p:ph type="body" idx="1"/>
          </p:nvPr>
        </p:nvSpPr>
        <p:spPr>
          <a:xfrm>
            <a:off x="1243104" y="2776936"/>
            <a:ext cx="2882475" cy="823912"/>
          </a:xfrm>
        </p:spPr>
        <p:txBody>
          <a:bodyPr/>
          <a:lstStyle/>
          <a:p>
            <a:r>
              <a:rPr lang="en-US" dirty="0"/>
              <a:t>User Perspective</a:t>
            </a:r>
          </a:p>
        </p:txBody>
      </p:sp>
      <p:sp>
        <p:nvSpPr>
          <p:cNvPr id="4" name="Content Placeholder 3">
            <a:extLst>
              <a:ext uri="{FF2B5EF4-FFF2-40B4-BE49-F238E27FC236}">
                <a16:creationId xmlns:a16="http://schemas.microsoft.com/office/drawing/2014/main" id="{A1D16151-9486-4A03-AE3A-F1CC562E0564}"/>
              </a:ext>
            </a:extLst>
          </p:cNvPr>
          <p:cNvSpPr>
            <a:spLocks noGrp="1"/>
          </p:cNvSpPr>
          <p:nvPr>
            <p:ph sz="half" idx="2"/>
          </p:nvPr>
        </p:nvSpPr>
        <p:spPr>
          <a:xfrm>
            <a:off x="1243104" y="3834606"/>
            <a:ext cx="2882475" cy="1997867"/>
          </a:xfrm>
        </p:spPr>
        <p:txBody>
          <a:bodyPr>
            <a:normAutofit/>
          </a:bodyPr>
          <a:lstStyle/>
          <a:p>
            <a:r>
              <a:rPr lang="en-US" dirty="0"/>
              <a:t>User receives pointer to a block of memory with NUM_BYTES bytes allocated</a:t>
            </a:r>
          </a:p>
          <a:p>
            <a:r>
              <a:rPr lang="en-US" dirty="0"/>
              <a:t>User should be able to request more memory and keep previously requested memory</a:t>
            </a:r>
          </a:p>
        </p:txBody>
      </p:sp>
      <p:sp>
        <p:nvSpPr>
          <p:cNvPr id="5" name="Text Placeholder 4">
            <a:extLst>
              <a:ext uri="{FF2B5EF4-FFF2-40B4-BE49-F238E27FC236}">
                <a16:creationId xmlns:a16="http://schemas.microsoft.com/office/drawing/2014/main" id="{DDE59236-37DD-4582-A2A0-3F9A13A3B55D}"/>
              </a:ext>
            </a:extLst>
          </p:cNvPr>
          <p:cNvSpPr>
            <a:spLocks noGrp="1"/>
          </p:cNvSpPr>
          <p:nvPr>
            <p:ph type="body" sz="quarter" idx="3"/>
          </p:nvPr>
        </p:nvSpPr>
        <p:spPr>
          <a:xfrm>
            <a:off x="4647665" y="2776936"/>
            <a:ext cx="2896671" cy="823912"/>
          </a:xfrm>
        </p:spPr>
        <p:txBody>
          <a:bodyPr/>
          <a:lstStyle/>
          <a:p>
            <a:r>
              <a:rPr lang="en-US" dirty="0"/>
              <a:t>OS Perspective</a:t>
            </a:r>
          </a:p>
        </p:txBody>
      </p:sp>
      <p:sp>
        <p:nvSpPr>
          <p:cNvPr id="6" name="Content Placeholder 5">
            <a:extLst>
              <a:ext uri="{FF2B5EF4-FFF2-40B4-BE49-F238E27FC236}">
                <a16:creationId xmlns:a16="http://schemas.microsoft.com/office/drawing/2014/main" id="{DE1CCF0F-F0BB-42D7-B3C2-C29336739F32}"/>
              </a:ext>
            </a:extLst>
          </p:cNvPr>
          <p:cNvSpPr>
            <a:spLocks noGrp="1"/>
          </p:cNvSpPr>
          <p:nvPr>
            <p:ph sz="quarter" idx="4"/>
          </p:nvPr>
        </p:nvSpPr>
        <p:spPr>
          <a:xfrm>
            <a:off x="4647665" y="3834606"/>
            <a:ext cx="2896671" cy="1997867"/>
          </a:xfrm>
        </p:spPr>
        <p:txBody>
          <a:bodyPr>
            <a:normAutofit/>
          </a:bodyPr>
          <a:lstStyle/>
          <a:p>
            <a:r>
              <a:rPr lang="en-US" dirty="0"/>
              <a:t>OS should “remember” what (and where) memory is allocated</a:t>
            </a:r>
          </a:p>
          <a:p>
            <a:r>
              <a:rPr lang="en-US" dirty="0"/>
              <a:t>OS should manage allocations systematically and do in such a way that other operations (free and </a:t>
            </a:r>
            <a:r>
              <a:rPr lang="en-US" dirty="0" err="1"/>
              <a:t>realloc</a:t>
            </a:r>
            <a:r>
              <a:rPr lang="en-US" dirty="0"/>
              <a:t>) are possible and easy​​​</a:t>
            </a:r>
          </a:p>
        </p:txBody>
      </p:sp>
      <p:sp>
        <p:nvSpPr>
          <p:cNvPr id="11" name="Slide Number Placeholder 10">
            <a:extLst>
              <a:ext uri="{FF2B5EF4-FFF2-40B4-BE49-F238E27FC236}">
                <a16:creationId xmlns:a16="http://schemas.microsoft.com/office/drawing/2014/main" id="{7AE81C1E-A7C3-40CD-9C11-0C03A2221292}"/>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3</a:t>
            </a:fld>
            <a:endParaRPr lang="en-US" dirty="0"/>
          </a:p>
        </p:txBody>
      </p:sp>
      <p:sp>
        <p:nvSpPr>
          <p:cNvPr id="9" name="Text Placeholder 2">
            <a:extLst>
              <a:ext uri="{FF2B5EF4-FFF2-40B4-BE49-F238E27FC236}">
                <a16:creationId xmlns:a16="http://schemas.microsoft.com/office/drawing/2014/main" id="{4F0FDEFF-5AA0-753E-8236-950F71EBEE24}"/>
              </a:ext>
            </a:extLst>
          </p:cNvPr>
          <p:cNvSpPr txBox="1">
            <a:spLocks/>
          </p:cNvSpPr>
          <p:nvPr/>
        </p:nvSpPr>
        <p:spPr>
          <a:xfrm>
            <a:off x="3540125" y="1212658"/>
            <a:ext cx="5111750" cy="94243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800" dirty="0"/>
              <a:t>What should happen when we allocate memory?</a:t>
            </a:r>
          </a:p>
        </p:txBody>
      </p:sp>
      <p:sp>
        <p:nvSpPr>
          <p:cNvPr id="18" name="Content Placeholder 5">
            <a:extLst>
              <a:ext uri="{FF2B5EF4-FFF2-40B4-BE49-F238E27FC236}">
                <a16:creationId xmlns:a16="http://schemas.microsoft.com/office/drawing/2014/main" id="{6B3B50CE-D4A3-EEB8-3F6E-A3DDD45116E1}"/>
              </a:ext>
            </a:extLst>
          </p:cNvPr>
          <p:cNvSpPr txBox="1">
            <a:spLocks/>
          </p:cNvSpPr>
          <p:nvPr/>
        </p:nvSpPr>
        <p:spPr>
          <a:xfrm>
            <a:off x="8338781" y="3834606"/>
            <a:ext cx="3316407" cy="199786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How can we structure memory in a way it is easy to “remember” details of what has happened?</a:t>
            </a:r>
          </a:p>
        </p:txBody>
      </p:sp>
    </p:spTree>
    <p:extLst>
      <p:ext uri="{BB962C8B-B14F-4D97-AF65-F5344CB8AC3E}">
        <p14:creationId xmlns:p14="http://schemas.microsoft.com/office/powerpoint/2010/main" val="1375986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#1</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Global </a:t>
            </a:r>
            <a:r>
              <a:rPr lang="en-US" dirty="0" err="1"/>
              <a:t>next_alloc</a:t>
            </a:r>
            <a:r>
              <a:rPr lang="en-US" dirty="0"/>
              <a:t> pointer</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3" y="3778644"/>
            <a:ext cx="3924300" cy="1997867"/>
          </a:xfrm>
        </p:spPr>
        <p:txBody>
          <a:bodyPr>
            <a:normAutofit/>
          </a:bodyPr>
          <a:lstStyle/>
          <a:p>
            <a:r>
              <a:rPr lang="en-US" dirty="0" err="1"/>
              <a:t>Everytime</a:t>
            </a:r>
            <a:r>
              <a:rPr lang="en-US" dirty="0"/>
              <a:t> there is a malloc, return </a:t>
            </a:r>
            <a:r>
              <a:rPr lang="en-US" dirty="0" err="1"/>
              <a:t>next_alloc</a:t>
            </a:r>
            <a:r>
              <a:rPr lang="en-US" dirty="0"/>
              <a:t> and increment it by the number of requested bytes</a:t>
            </a:r>
          </a:p>
          <a:p>
            <a:r>
              <a:rPr lang="en-US" dirty="0"/>
              <a:t>✓ Does not overwrite past allocations</a:t>
            </a:r>
          </a:p>
          <a:p>
            <a:endParaRPr lang="en-US" dirty="0"/>
          </a:p>
          <a:p>
            <a:r>
              <a:rPr lang="en-US" dirty="0"/>
              <a:t>Any issues?</a:t>
            </a:r>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4</a:t>
            </a:fld>
            <a:endParaRPr lang="en-US" dirty="0"/>
          </a:p>
        </p:txBody>
      </p:sp>
      <p:sp>
        <p:nvSpPr>
          <p:cNvPr id="15" name="Rectangle 14">
            <a:extLst>
              <a:ext uri="{FF2B5EF4-FFF2-40B4-BE49-F238E27FC236}">
                <a16:creationId xmlns:a16="http://schemas.microsoft.com/office/drawing/2014/main" id="{815C3D6B-0EB8-6703-5FEF-8322EB9BDA20}"/>
              </a:ext>
            </a:extLst>
          </p:cNvPr>
          <p:cNvSpPr/>
          <p:nvPr/>
        </p:nvSpPr>
        <p:spPr>
          <a:xfrm>
            <a:off x="5921991" y="248137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Arrow Connector 24">
            <a:extLst>
              <a:ext uri="{FF2B5EF4-FFF2-40B4-BE49-F238E27FC236}">
                <a16:creationId xmlns:a16="http://schemas.microsoft.com/office/drawing/2014/main" id="{0578F4FE-B686-0D0F-FE41-BFDE9629927D}"/>
              </a:ext>
            </a:extLst>
          </p:cNvPr>
          <p:cNvCxnSpPr>
            <a:cxnSpLocks/>
          </p:cNvCxnSpPr>
          <p:nvPr/>
        </p:nvCxnSpPr>
        <p:spPr>
          <a:xfrm>
            <a:off x="5581934" y="2861480"/>
            <a:ext cx="304232" cy="2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A24384EE-6355-87F0-E9FF-607B6887E9DF}"/>
              </a:ext>
            </a:extLst>
          </p:cNvPr>
          <p:cNvSpPr/>
          <p:nvPr/>
        </p:nvSpPr>
        <p:spPr>
          <a:xfrm>
            <a:off x="5921990" y="2482563"/>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32" name="Rectangle 31">
            <a:extLst>
              <a:ext uri="{FF2B5EF4-FFF2-40B4-BE49-F238E27FC236}">
                <a16:creationId xmlns:a16="http://schemas.microsoft.com/office/drawing/2014/main" id="{41099AC3-467E-1CD6-BDA4-160E6C57B60E}"/>
              </a:ext>
            </a:extLst>
          </p:cNvPr>
          <p:cNvSpPr/>
          <p:nvPr/>
        </p:nvSpPr>
        <p:spPr>
          <a:xfrm>
            <a:off x="8078338" y="248137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Arrow Connector 32">
            <a:extLst>
              <a:ext uri="{FF2B5EF4-FFF2-40B4-BE49-F238E27FC236}">
                <a16:creationId xmlns:a16="http://schemas.microsoft.com/office/drawing/2014/main" id="{91188059-D8C2-CA3A-F11C-C10E49B64080}"/>
              </a:ext>
            </a:extLst>
          </p:cNvPr>
          <p:cNvCxnSpPr>
            <a:cxnSpLocks/>
          </p:cNvCxnSpPr>
          <p:nvPr/>
        </p:nvCxnSpPr>
        <p:spPr>
          <a:xfrm>
            <a:off x="7718947" y="3428997"/>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48590576-A45B-39B1-7D31-567EC0352331}"/>
              </a:ext>
            </a:extLst>
          </p:cNvPr>
          <p:cNvSpPr/>
          <p:nvPr/>
        </p:nvSpPr>
        <p:spPr>
          <a:xfrm>
            <a:off x="8078337" y="2482563"/>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35" name="Rectangle 34">
            <a:extLst>
              <a:ext uri="{FF2B5EF4-FFF2-40B4-BE49-F238E27FC236}">
                <a16:creationId xmlns:a16="http://schemas.microsoft.com/office/drawing/2014/main" id="{B57DF7AD-ACA6-1DC4-4B76-1F59D6E4A95B}"/>
              </a:ext>
            </a:extLst>
          </p:cNvPr>
          <p:cNvSpPr/>
          <p:nvPr/>
        </p:nvSpPr>
        <p:spPr>
          <a:xfrm>
            <a:off x="8078336" y="2861480"/>
            <a:ext cx="1634319" cy="56751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malloc(12)</a:t>
            </a:r>
          </a:p>
        </p:txBody>
      </p:sp>
      <p:sp>
        <p:nvSpPr>
          <p:cNvPr id="42" name="Rectangle 41">
            <a:extLst>
              <a:ext uri="{FF2B5EF4-FFF2-40B4-BE49-F238E27FC236}">
                <a16:creationId xmlns:a16="http://schemas.microsoft.com/office/drawing/2014/main" id="{4C9BFC53-4C4D-B0D6-B25F-7B8C76881FCC}"/>
              </a:ext>
            </a:extLst>
          </p:cNvPr>
          <p:cNvSpPr/>
          <p:nvPr/>
        </p:nvSpPr>
        <p:spPr>
          <a:xfrm>
            <a:off x="10234681" y="248137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9859933" y="3607554"/>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0707B858-0680-721E-15CA-88ADC50F580A}"/>
              </a:ext>
            </a:extLst>
          </p:cNvPr>
          <p:cNvSpPr/>
          <p:nvPr/>
        </p:nvSpPr>
        <p:spPr>
          <a:xfrm>
            <a:off x="10234680" y="2482563"/>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45" name="Rectangle 44">
            <a:extLst>
              <a:ext uri="{FF2B5EF4-FFF2-40B4-BE49-F238E27FC236}">
                <a16:creationId xmlns:a16="http://schemas.microsoft.com/office/drawing/2014/main" id="{99D425E5-592B-3369-6CDC-A73ECF17C6C8}"/>
              </a:ext>
            </a:extLst>
          </p:cNvPr>
          <p:cNvSpPr/>
          <p:nvPr/>
        </p:nvSpPr>
        <p:spPr>
          <a:xfrm>
            <a:off x="10234679" y="2861480"/>
            <a:ext cx="1634319" cy="56751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malloc(12)</a:t>
            </a:r>
          </a:p>
        </p:txBody>
      </p:sp>
      <p:sp>
        <p:nvSpPr>
          <p:cNvPr id="46" name="Rectangle 45">
            <a:extLst>
              <a:ext uri="{FF2B5EF4-FFF2-40B4-BE49-F238E27FC236}">
                <a16:creationId xmlns:a16="http://schemas.microsoft.com/office/drawing/2014/main" id="{59642EDC-F3EE-A87D-C5C6-CD0F146756C7}"/>
              </a:ext>
            </a:extLst>
          </p:cNvPr>
          <p:cNvSpPr/>
          <p:nvPr/>
        </p:nvSpPr>
        <p:spPr>
          <a:xfrm>
            <a:off x="10234678" y="3428997"/>
            <a:ext cx="1634319" cy="178557"/>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47" name="Footer Placeholder 4">
            <a:extLst>
              <a:ext uri="{FF2B5EF4-FFF2-40B4-BE49-F238E27FC236}">
                <a16:creationId xmlns:a16="http://schemas.microsoft.com/office/drawing/2014/main" id="{95106470-DA48-7BAA-3837-132F47759261}"/>
              </a:ext>
            </a:extLst>
          </p:cNvPr>
          <p:cNvSpPr>
            <a:spLocks noGrp="1"/>
          </p:cNvSpPr>
          <p:nvPr>
            <p:ph type="ftr" sz="quarter" idx="11"/>
          </p:nvPr>
        </p:nvSpPr>
        <p:spPr>
          <a:xfrm>
            <a:off x="1755443" y="6050436"/>
            <a:ext cx="5702110" cy="611827"/>
          </a:xfrm>
        </p:spPr>
        <p:txBody>
          <a:bodyPr/>
          <a:lstStyle/>
          <a:p>
            <a:pPr algn="l"/>
            <a:r>
              <a:rPr lang="en-US" sz="1200" dirty="0"/>
              <a:t>* We do not need to worry about writing into different blocks as that is considered user error</a:t>
            </a:r>
          </a:p>
        </p:txBody>
      </p:sp>
    </p:spTree>
    <p:extLst>
      <p:ext uri="{BB962C8B-B14F-4D97-AF65-F5344CB8AC3E}">
        <p14:creationId xmlns:p14="http://schemas.microsoft.com/office/powerpoint/2010/main" val="1663780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#1</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How many bytes do we free?</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3" y="3778644"/>
            <a:ext cx="3924300" cy="1997867"/>
          </a:xfrm>
        </p:spPr>
        <p:txBody>
          <a:bodyPr>
            <a:normAutofit/>
          </a:bodyPr>
          <a:lstStyle/>
          <a:p>
            <a:r>
              <a:rPr lang="en-US" dirty="0"/>
              <a:t>When we try to free a block, how many bytes should we free? It is unknown with this implementation.</a:t>
            </a:r>
          </a:p>
          <a:p>
            <a:endParaRPr lang="en-US" dirty="0"/>
          </a:p>
          <a:p>
            <a:r>
              <a:rPr lang="en-US" b="1" dirty="0"/>
              <a:t>CONCLUSION: We need to “remember” the size of each block.</a:t>
            </a:r>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5</a:t>
            </a:fld>
            <a:endParaRPr lang="en-US" dirty="0"/>
          </a:p>
        </p:txBody>
      </p:sp>
      <p:sp>
        <p:nvSpPr>
          <p:cNvPr id="42" name="Rectangle 41">
            <a:extLst>
              <a:ext uri="{FF2B5EF4-FFF2-40B4-BE49-F238E27FC236}">
                <a16:creationId xmlns:a16="http://schemas.microsoft.com/office/drawing/2014/main" id="{4C9BFC53-4C4D-B0D6-B25F-7B8C76881FCC}"/>
              </a:ext>
            </a:extLst>
          </p:cNvPr>
          <p:cNvSpPr/>
          <p:nvPr/>
        </p:nvSpPr>
        <p:spPr>
          <a:xfrm>
            <a:off x="8228460" y="2458632"/>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7853712" y="3584808"/>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0707B858-0680-721E-15CA-88ADC50F580A}"/>
              </a:ext>
            </a:extLst>
          </p:cNvPr>
          <p:cNvSpPr/>
          <p:nvPr/>
        </p:nvSpPr>
        <p:spPr>
          <a:xfrm>
            <a:off x="8228459" y="2459817"/>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45" name="Rectangle 44">
            <a:extLst>
              <a:ext uri="{FF2B5EF4-FFF2-40B4-BE49-F238E27FC236}">
                <a16:creationId xmlns:a16="http://schemas.microsoft.com/office/drawing/2014/main" id="{99D425E5-592B-3369-6CDC-A73ECF17C6C8}"/>
              </a:ext>
            </a:extLst>
          </p:cNvPr>
          <p:cNvSpPr/>
          <p:nvPr/>
        </p:nvSpPr>
        <p:spPr>
          <a:xfrm>
            <a:off x="8228458" y="2838734"/>
            <a:ext cx="1634319" cy="56751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malloc(12)</a:t>
            </a:r>
          </a:p>
        </p:txBody>
      </p:sp>
      <p:sp>
        <p:nvSpPr>
          <p:cNvPr id="46" name="Rectangle 45">
            <a:extLst>
              <a:ext uri="{FF2B5EF4-FFF2-40B4-BE49-F238E27FC236}">
                <a16:creationId xmlns:a16="http://schemas.microsoft.com/office/drawing/2014/main" id="{59642EDC-F3EE-A87D-C5C6-CD0F146756C7}"/>
              </a:ext>
            </a:extLst>
          </p:cNvPr>
          <p:cNvSpPr/>
          <p:nvPr/>
        </p:nvSpPr>
        <p:spPr>
          <a:xfrm>
            <a:off x="8228457" y="3406251"/>
            <a:ext cx="1634319" cy="178557"/>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5" name="Footer Placeholder 4">
            <a:extLst>
              <a:ext uri="{FF2B5EF4-FFF2-40B4-BE49-F238E27FC236}">
                <a16:creationId xmlns:a16="http://schemas.microsoft.com/office/drawing/2014/main" id="{FFD390F4-7745-F3E9-F37E-4D515A4BFC28}"/>
              </a:ext>
            </a:extLst>
          </p:cNvPr>
          <p:cNvSpPr>
            <a:spLocks noGrp="1"/>
          </p:cNvSpPr>
          <p:nvPr>
            <p:ph type="ftr" sz="quarter" idx="11"/>
          </p:nvPr>
        </p:nvSpPr>
        <p:spPr>
          <a:xfrm>
            <a:off x="1755443" y="6050436"/>
            <a:ext cx="5702110" cy="611827"/>
          </a:xfrm>
        </p:spPr>
        <p:txBody>
          <a:bodyPr/>
          <a:lstStyle/>
          <a:p>
            <a:pPr algn="l"/>
            <a:r>
              <a:rPr lang="en-US" sz="1200" dirty="0"/>
              <a:t>* We do not need to worry about </a:t>
            </a:r>
            <a:r>
              <a:rPr lang="en-US" sz="1200" dirty="0" err="1"/>
              <a:t>free’ing</a:t>
            </a:r>
            <a:r>
              <a:rPr lang="en-US" sz="1200" dirty="0"/>
              <a:t> bad pointers – that is considered user error</a:t>
            </a:r>
          </a:p>
        </p:txBody>
      </p:sp>
      <p:cxnSp>
        <p:nvCxnSpPr>
          <p:cNvPr id="6" name="Straight Arrow Connector 5">
            <a:extLst>
              <a:ext uri="{FF2B5EF4-FFF2-40B4-BE49-F238E27FC236}">
                <a16:creationId xmlns:a16="http://schemas.microsoft.com/office/drawing/2014/main" id="{F155BD33-5F09-36ED-EB9C-4779305C6E9C}"/>
              </a:ext>
            </a:extLst>
          </p:cNvPr>
          <p:cNvCxnSpPr>
            <a:cxnSpLocks/>
          </p:cNvCxnSpPr>
          <p:nvPr/>
        </p:nvCxnSpPr>
        <p:spPr>
          <a:xfrm>
            <a:off x="7853712" y="2838734"/>
            <a:ext cx="338351" cy="0"/>
          </a:xfrm>
          <a:prstGeom prst="straightConnector1">
            <a:avLst/>
          </a:prstGeom>
          <a:ln w="12700">
            <a:solidFill>
              <a:srgbClr val="898989"/>
            </a:solidFill>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1FE88B87-743C-25F9-2199-3FB5AAC44329}"/>
              </a:ext>
            </a:extLst>
          </p:cNvPr>
          <p:cNvSpPr txBox="1"/>
          <p:nvPr/>
        </p:nvSpPr>
        <p:spPr>
          <a:xfrm>
            <a:off x="6878472" y="2684845"/>
            <a:ext cx="1010726" cy="307777"/>
          </a:xfrm>
          <a:prstGeom prst="rect">
            <a:avLst/>
          </a:prstGeom>
          <a:noFill/>
        </p:spPr>
        <p:txBody>
          <a:bodyPr wrap="none" rtlCol="0">
            <a:spAutoFit/>
          </a:bodyPr>
          <a:lstStyle/>
          <a:p>
            <a:r>
              <a:rPr lang="en-US" sz="1400" dirty="0"/>
              <a:t>Free this?..</a:t>
            </a:r>
          </a:p>
        </p:txBody>
      </p:sp>
    </p:spTree>
    <p:extLst>
      <p:ext uri="{BB962C8B-B14F-4D97-AF65-F5344CB8AC3E}">
        <p14:creationId xmlns:p14="http://schemas.microsoft.com/office/powerpoint/2010/main" val="226813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#2</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Global </a:t>
            </a:r>
            <a:r>
              <a:rPr lang="en-US" dirty="0" err="1"/>
              <a:t>next_alloc</a:t>
            </a:r>
            <a:r>
              <a:rPr lang="en-US" dirty="0"/>
              <a:t> pointer with size at top</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3" y="3778644"/>
            <a:ext cx="3924300" cy="2326455"/>
          </a:xfrm>
        </p:spPr>
        <p:txBody>
          <a:bodyPr>
            <a:normAutofit/>
          </a:bodyPr>
          <a:lstStyle/>
          <a:p>
            <a:r>
              <a:rPr lang="en-US" dirty="0" err="1"/>
              <a:t>Everytime</a:t>
            </a:r>
            <a:r>
              <a:rPr lang="en-US" dirty="0"/>
              <a:t> there is a malloc, write the size, increment the pointer, return </a:t>
            </a:r>
            <a:r>
              <a:rPr lang="en-US" dirty="0" err="1"/>
              <a:t>next_alloc</a:t>
            </a:r>
            <a:r>
              <a:rPr lang="en-US" dirty="0"/>
              <a:t>, and increment it by the number of requested bytes</a:t>
            </a:r>
          </a:p>
          <a:p>
            <a:r>
              <a:rPr lang="en-US" dirty="0"/>
              <a:t>✓ Does not overwrite past allocations</a:t>
            </a:r>
          </a:p>
          <a:p>
            <a:r>
              <a:rPr lang="en-US" dirty="0"/>
              <a:t>✓ Remember the size for when we free</a:t>
            </a:r>
          </a:p>
          <a:p>
            <a:endParaRPr lang="en-US" dirty="0"/>
          </a:p>
          <a:p>
            <a:r>
              <a:rPr lang="en-US" dirty="0"/>
              <a:t>Any issues?</a:t>
            </a:r>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6</a:t>
            </a:fld>
            <a:endParaRPr lang="en-US" dirty="0"/>
          </a:p>
        </p:txBody>
      </p:sp>
      <p:sp>
        <p:nvSpPr>
          <p:cNvPr id="15" name="Rectangle 14">
            <a:extLst>
              <a:ext uri="{FF2B5EF4-FFF2-40B4-BE49-F238E27FC236}">
                <a16:creationId xmlns:a16="http://schemas.microsoft.com/office/drawing/2014/main" id="{815C3D6B-0EB8-6703-5FEF-8322EB9BDA20}"/>
              </a:ext>
            </a:extLst>
          </p:cNvPr>
          <p:cNvSpPr/>
          <p:nvPr/>
        </p:nvSpPr>
        <p:spPr>
          <a:xfrm>
            <a:off x="5921991" y="248137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Arrow Connector 24">
            <a:extLst>
              <a:ext uri="{FF2B5EF4-FFF2-40B4-BE49-F238E27FC236}">
                <a16:creationId xmlns:a16="http://schemas.microsoft.com/office/drawing/2014/main" id="{0578F4FE-B686-0D0F-FE41-BFDE9629927D}"/>
              </a:ext>
            </a:extLst>
          </p:cNvPr>
          <p:cNvCxnSpPr>
            <a:cxnSpLocks/>
          </p:cNvCxnSpPr>
          <p:nvPr/>
        </p:nvCxnSpPr>
        <p:spPr>
          <a:xfrm>
            <a:off x="5564024" y="3061911"/>
            <a:ext cx="304232" cy="2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A24384EE-6355-87F0-E9FF-607B6887E9DF}"/>
              </a:ext>
            </a:extLst>
          </p:cNvPr>
          <p:cNvSpPr/>
          <p:nvPr/>
        </p:nvSpPr>
        <p:spPr>
          <a:xfrm>
            <a:off x="5924260" y="2672010"/>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cxnSp>
        <p:nvCxnSpPr>
          <p:cNvPr id="33" name="Straight Arrow Connector 32">
            <a:extLst>
              <a:ext uri="{FF2B5EF4-FFF2-40B4-BE49-F238E27FC236}">
                <a16:creationId xmlns:a16="http://schemas.microsoft.com/office/drawing/2014/main" id="{91188059-D8C2-CA3A-F11C-C10E49B64080}"/>
              </a:ext>
            </a:extLst>
          </p:cNvPr>
          <p:cNvCxnSpPr>
            <a:cxnSpLocks/>
          </p:cNvCxnSpPr>
          <p:nvPr/>
        </p:nvCxnSpPr>
        <p:spPr>
          <a:xfrm>
            <a:off x="7696201" y="3772808"/>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2" name="Rectangle 41">
            <a:extLst>
              <a:ext uri="{FF2B5EF4-FFF2-40B4-BE49-F238E27FC236}">
                <a16:creationId xmlns:a16="http://schemas.microsoft.com/office/drawing/2014/main" id="{4C9BFC53-4C4D-B0D6-B25F-7B8C76881FCC}"/>
              </a:ext>
            </a:extLst>
          </p:cNvPr>
          <p:cNvSpPr/>
          <p:nvPr/>
        </p:nvSpPr>
        <p:spPr>
          <a:xfrm>
            <a:off x="10234681" y="248137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9870169" y="4140340"/>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0707B858-0680-721E-15CA-88ADC50F580A}"/>
              </a:ext>
            </a:extLst>
          </p:cNvPr>
          <p:cNvSpPr/>
          <p:nvPr/>
        </p:nvSpPr>
        <p:spPr>
          <a:xfrm>
            <a:off x="10239218" y="2660248"/>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45" name="Rectangle 44">
            <a:extLst>
              <a:ext uri="{FF2B5EF4-FFF2-40B4-BE49-F238E27FC236}">
                <a16:creationId xmlns:a16="http://schemas.microsoft.com/office/drawing/2014/main" id="{99D425E5-592B-3369-6CDC-A73ECF17C6C8}"/>
              </a:ext>
            </a:extLst>
          </p:cNvPr>
          <p:cNvSpPr/>
          <p:nvPr/>
        </p:nvSpPr>
        <p:spPr>
          <a:xfrm>
            <a:off x="10239804" y="3205291"/>
            <a:ext cx="1634319" cy="56751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malloc(12)</a:t>
            </a:r>
          </a:p>
        </p:txBody>
      </p:sp>
      <p:sp>
        <p:nvSpPr>
          <p:cNvPr id="46" name="Rectangle 45">
            <a:extLst>
              <a:ext uri="{FF2B5EF4-FFF2-40B4-BE49-F238E27FC236}">
                <a16:creationId xmlns:a16="http://schemas.microsoft.com/office/drawing/2014/main" id="{59642EDC-F3EE-A87D-C5C6-CD0F146756C7}"/>
              </a:ext>
            </a:extLst>
          </p:cNvPr>
          <p:cNvSpPr/>
          <p:nvPr/>
        </p:nvSpPr>
        <p:spPr>
          <a:xfrm>
            <a:off x="10244927" y="3945569"/>
            <a:ext cx="1634319" cy="17855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5" name="Rectangle 4">
            <a:extLst>
              <a:ext uri="{FF2B5EF4-FFF2-40B4-BE49-F238E27FC236}">
                <a16:creationId xmlns:a16="http://schemas.microsoft.com/office/drawing/2014/main" id="{058D0BB0-C211-851F-7325-5BFE9697FB4C}"/>
              </a:ext>
            </a:extLst>
          </p:cNvPr>
          <p:cNvSpPr/>
          <p:nvPr/>
        </p:nvSpPr>
        <p:spPr>
          <a:xfrm>
            <a:off x="10244927" y="3767011"/>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6" name="Rectangle 5">
            <a:extLst>
              <a:ext uri="{FF2B5EF4-FFF2-40B4-BE49-F238E27FC236}">
                <a16:creationId xmlns:a16="http://schemas.microsoft.com/office/drawing/2014/main" id="{CD5B3D27-6E6C-0E58-AA0E-1A95E65FE528}"/>
              </a:ext>
            </a:extLst>
          </p:cNvPr>
          <p:cNvSpPr/>
          <p:nvPr/>
        </p:nvSpPr>
        <p:spPr>
          <a:xfrm>
            <a:off x="10239804" y="302673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7" name="Rectangle 6">
            <a:extLst>
              <a:ext uri="{FF2B5EF4-FFF2-40B4-BE49-F238E27FC236}">
                <a16:creationId xmlns:a16="http://schemas.microsoft.com/office/drawing/2014/main" id="{097831D5-FDDF-0343-9B0E-C9311554F2B9}"/>
              </a:ext>
            </a:extLst>
          </p:cNvPr>
          <p:cNvSpPr/>
          <p:nvPr/>
        </p:nvSpPr>
        <p:spPr>
          <a:xfrm>
            <a:off x="10236949" y="2481378"/>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17" name="Rectangle 16">
            <a:extLst>
              <a:ext uri="{FF2B5EF4-FFF2-40B4-BE49-F238E27FC236}">
                <a16:creationId xmlns:a16="http://schemas.microsoft.com/office/drawing/2014/main" id="{CA009CF9-82E1-389D-CB35-26B743F4CF13}"/>
              </a:ext>
            </a:extLst>
          </p:cNvPr>
          <p:cNvSpPr/>
          <p:nvPr/>
        </p:nvSpPr>
        <p:spPr>
          <a:xfrm>
            <a:off x="8099373" y="248137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11120E4-B981-BB7C-1A9A-69D68B5AA2F8}"/>
              </a:ext>
            </a:extLst>
          </p:cNvPr>
          <p:cNvSpPr/>
          <p:nvPr/>
        </p:nvSpPr>
        <p:spPr>
          <a:xfrm>
            <a:off x="8103910" y="2660248"/>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19" name="Rectangle 18">
            <a:extLst>
              <a:ext uri="{FF2B5EF4-FFF2-40B4-BE49-F238E27FC236}">
                <a16:creationId xmlns:a16="http://schemas.microsoft.com/office/drawing/2014/main" id="{75DAAF6C-6535-94BB-4EEF-92E004FCF525}"/>
              </a:ext>
            </a:extLst>
          </p:cNvPr>
          <p:cNvSpPr/>
          <p:nvPr/>
        </p:nvSpPr>
        <p:spPr>
          <a:xfrm>
            <a:off x="8104496" y="3205291"/>
            <a:ext cx="1634319" cy="56751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malloc(12)</a:t>
            </a:r>
          </a:p>
        </p:txBody>
      </p:sp>
      <p:sp>
        <p:nvSpPr>
          <p:cNvPr id="22" name="Rectangle 21">
            <a:extLst>
              <a:ext uri="{FF2B5EF4-FFF2-40B4-BE49-F238E27FC236}">
                <a16:creationId xmlns:a16="http://schemas.microsoft.com/office/drawing/2014/main" id="{3868B0E9-0728-D9E6-A87D-1DE687CB8465}"/>
              </a:ext>
            </a:extLst>
          </p:cNvPr>
          <p:cNvSpPr/>
          <p:nvPr/>
        </p:nvSpPr>
        <p:spPr>
          <a:xfrm>
            <a:off x="8104496" y="302673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23" name="Rectangle 22">
            <a:extLst>
              <a:ext uri="{FF2B5EF4-FFF2-40B4-BE49-F238E27FC236}">
                <a16:creationId xmlns:a16="http://schemas.microsoft.com/office/drawing/2014/main" id="{8DFDF9FD-F026-EAFB-19AE-9948603B7E22}"/>
              </a:ext>
            </a:extLst>
          </p:cNvPr>
          <p:cNvSpPr/>
          <p:nvPr/>
        </p:nvSpPr>
        <p:spPr>
          <a:xfrm>
            <a:off x="8101641" y="2481378"/>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24" name="Rectangle 23">
            <a:extLst>
              <a:ext uri="{FF2B5EF4-FFF2-40B4-BE49-F238E27FC236}">
                <a16:creationId xmlns:a16="http://schemas.microsoft.com/office/drawing/2014/main" id="{A4AAD9B0-D379-5582-56D1-17276C452247}"/>
              </a:ext>
            </a:extLst>
          </p:cNvPr>
          <p:cNvSpPr/>
          <p:nvPr/>
        </p:nvSpPr>
        <p:spPr>
          <a:xfrm>
            <a:off x="5916868" y="2481378"/>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Tree>
    <p:extLst>
      <p:ext uri="{BB962C8B-B14F-4D97-AF65-F5344CB8AC3E}">
        <p14:creationId xmlns:p14="http://schemas.microsoft.com/office/powerpoint/2010/main" val="3769882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#2</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What is the new size when we free?</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3" y="3778644"/>
            <a:ext cx="3924300" cy="2053499"/>
          </a:xfrm>
        </p:spPr>
        <p:txBody>
          <a:bodyPr>
            <a:normAutofit/>
          </a:bodyPr>
          <a:lstStyle/>
          <a:p>
            <a:r>
              <a:rPr lang="en-US" dirty="0"/>
              <a:t>0 is the logical guess. But now, how do we know how many bytes that is if we want to reuse that space</a:t>
            </a:r>
          </a:p>
          <a:p>
            <a:endParaRPr lang="en-US" dirty="0"/>
          </a:p>
          <a:p>
            <a:r>
              <a:rPr lang="en-US" b="1" dirty="0"/>
              <a:t>CONCLUSION: We need to “remember” the size AND the allocation status (free/allocated) of each block.</a:t>
            </a:r>
          </a:p>
          <a:p>
            <a:endParaRPr lang="en-US" b="1" dirty="0"/>
          </a:p>
          <a:p>
            <a:endParaRPr lang="en-US" b="1" dirty="0"/>
          </a:p>
          <a:p>
            <a:endParaRPr lang="en-US" dirty="0"/>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7</a:t>
            </a:fld>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7853712" y="4101381"/>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F155BD33-5F09-36ED-EB9C-4779305C6E9C}"/>
              </a:ext>
            </a:extLst>
          </p:cNvPr>
          <p:cNvCxnSpPr>
            <a:cxnSpLocks/>
          </p:cNvCxnSpPr>
          <p:nvPr/>
        </p:nvCxnSpPr>
        <p:spPr>
          <a:xfrm>
            <a:off x="7853711" y="3205291"/>
            <a:ext cx="338351" cy="0"/>
          </a:xfrm>
          <a:prstGeom prst="straightConnector1">
            <a:avLst/>
          </a:prstGeom>
          <a:ln w="12700">
            <a:solidFill>
              <a:srgbClr val="898989"/>
            </a:solidFill>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1FE88B87-743C-25F9-2199-3FB5AAC44329}"/>
              </a:ext>
            </a:extLst>
          </p:cNvPr>
          <p:cNvSpPr txBox="1"/>
          <p:nvPr/>
        </p:nvSpPr>
        <p:spPr>
          <a:xfrm>
            <a:off x="6578221" y="2943681"/>
            <a:ext cx="1375015" cy="523220"/>
          </a:xfrm>
          <a:prstGeom prst="rect">
            <a:avLst/>
          </a:prstGeom>
          <a:noFill/>
        </p:spPr>
        <p:txBody>
          <a:bodyPr wrap="square" rtlCol="0">
            <a:spAutoFit/>
          </a:bodyPr>
          <a:lstStyle/>
          <a:p>
            <a:r>
              <a:rPr lang="en-US" sz="1400" dirty="0"/>
              <a:t>How many free bytes are here?</a:t>
            </a:r>
          </a:p>
        </p:txBody>
      </p:sp>
      <p:sp>
        <p:nvSpPr>
          <p:cNvPr id="17" name="Rectangle 16">
            <a:extLst>
              <a:ext uri="{FF2B5EF4-FFF2-40B4-BE49-F238E27FC236}">
                <a16:creationId xmlns:a16="http://schemas.microsoft.com/office/drawing/2014/main" id="{0F01A13C-42C4-91AB-18C4-47E26682F2E2}"/>
              </a:ext>
            </a:extLst>
          </p:cNvPr>
          <p:cNvSpPr/>
          <p:nvPr/>
        </p:nvSpPr>
        <p:spPr>
          <a:xfrm>
            <a:off x="8229574" y="2458632"/>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24F62D7-16FA-C78D-782A-7D7158B9AE08}"/>
              </a:ext>
            </a:extLst>
          </p:cNvPr>
          <p:cNvSpPr/>
          <p:nvPr/>
        </p:nvSpPr>
        <p:spPr>
          <a:xfrm>
            <a:off x="8234111" y="2637502"/>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21" name="Rectangle 20">
            <a:extLst>
              <a:ext uri="{FF2B5EF4-FFF2-40B4-BE49-F238E27FC236}">
                <a16:creationId xmlns:a16="http://schemas.microsoft.com/office/drawing/2014/main" id="{789BDC0F-5EEE-A7FF-9424-19CACEBEA4C4}"/>
              </a:ext>
            </a:extLst>
          </p:cNvPr>
          <p:cNvSpPr/>
          <p:nvPr/>
        </p:nvSpPr>
        <p:spPr>
          <a:xfrm>
            <a:off x="8239820" y="3922823"/>
            <a:ext cx="1634319" cy="17855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22" name="Rectangle 21">
            <a:extLst>
              <a:ext uri="{FF2B5EF4-FFF2-40B4-BE49-F238E27FC236}">
                <a16:creationId xmlns:a16="http://schemas.microsoft.com/office/drawing/2014/main" id="{B4D5BABE-2C60-60A7-78A7-2173C99D3C04}"/>
              </a:ext>
            </a:extLst>
          </p:cNvPr>
          <p:cNvSpPr/>
          <p:nvPr/>
        </p:nvSpPr>
        <p:spPr>
          <a:xfrm>
            <a:off x="8239820" y="3744265"/>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23" name="Rectangle 22">
            <a:extLst>
              <a:ext uri="{FF2B5EF4-FFF2-40B4-BE49-F238E27FC236}">
                <a16:creationId xmlns:a16="http://schemas.microsoft.com/office/drawing/2014/main" id="{A165B2FB-C3EF-F1F0-3914-D0CF2B077344}"/>
              </a:ext>
            </a:extLst>
          </p:cNvPr>
          <p:cNvSpPr/>
          <p:nvPr/>
        </p:nvSpPr>
        <p:spPr>
          <a:xfrm>
            <a:off x="8234697" y="3003987"/>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 bytes</a:t>
            </a:r>
          </a:p>
        </p:txBody>
      </p:sp>
      <p:sp>
        <p:nvSpPr>
          <p:cNvPr id="24" name="Rectangle 23">
            <a:extLst>
              <a:ext uri="{FF2B5EF4-FFF2-40B4-BE49-F238E27FC236}">
                <a16:creationId xmlns:a16="http://schemas.microsoft.com/office/drawing/2014/main" id="{44361477-9B27-32D5-5457-8ADB16387B09}"/>
              </a:ext>
            </a:extLst>
          </p:cNvPr>
          <p:cNvSpPr/>
          <p:nvPr/>
        </p:nvSpPr>
        <p:spPr>
          <a:xfrm>
            <a:off x="8231842" y="2458632"/>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Tree>
    <p:extLst>
      <p:ext uri="{BB962C8B-B14F-4D97-AF65-F5344CB8AC3E}">
        <p14:creationId xmlns:p14="http://schemas.microsoft.com/office/powerpoint/2010/main" val="2421844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#2.1</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What is the new size when we free?</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3" y="3634856"/>
            <a:ext cx="3924300" cy="2197288"/>
          </a:xfrm>
        </p:spPr>
        <p:txBody>
          <a:bodyPr>
            <a:normAutofit/>
          </a:bodyPr>
          <a:lstStyle/>
          <a:p>
            <a:r>
              <a:rPr lang="en-US" dirty="0"/>
              <a:t>We can achieve this by declaring “-N” as “N allocated” and “+N” as “N free”</a:t>
            </a:r>
          </a:p>
          <a:p>
            <a:endParaRPr lang="en-US" dirty="0"/>
          </a:p>
          <a:p>
            <a:r>
              <a:rPr lang="en-US" dirty="0"/>
              <a:t>This means we should always know how large the next free block is too, so we need to keep track of this one too, which for now we’ll pretend our heap is a total of 128 bytes (128 – 8 – 12 – 4 = 104)</a:t>
            </a:r>
          </a:p>
          <a:p>
            <a:endParaRPr lang="en-US" b="1" dirty="0"/>
          </a:p>
          <a:p>
            <a:endParaRPr lang="en-US" b="1" dirty="0"/>
          </a:p>
          <a:p>
            <a:endParaRPr lang="en-US" b="1" dirty="0"/>
          </a:p>
          <a:p>
            <a:endParaRPr lang="en-US" dirty="0"/>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8</a:t>
            </a:fld>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7853712" y="4101381"/>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F155BD33-5F09-36ED-EB9C-4779305C6E9C}"/>
              </a:ext>
            </a:extLst>
          </p:cNvPr>
          <p:cNvCxnSpPr>
            <a:cxnSpLocks/>
          </p:cNvCxnSpPr>
          <p:nvPr/>
        </p:nvCxnSpPr>
        <p:spPr>
          <a:xfrm>
            <a:off x="7853711" y="3205291"/>
            <a:ext cx="338351" cy="0"/>
          </a:xfrm>
          <a:prstGeom prst="straightConnector1">
            <a:avLst/>
          </a:prstGeom>
          <a:ln w="12700">
            <a:solidFill>
              <a:srgbClr val="898989"/>
            </a:solidFill>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1FE88B87-743C-25F9-2199-3FB5AAC44329}"/>
              </a:ext>
            </a:extLst>
          </p:cNvPr>
          <p:cNvSpPr txBox="1"/>
          <p:nvPr/>
        </p:nvSpPr>
        <p:spPr>
          <a:xfrm>
            <a:off x="6578221" y="2943681"/>
            <a:ext cx="1375015" cy="523220"/>
          </a:xfrm>
          <a:prstGeom prst="rect">
            <a:avLst/>
          </a:prstGeom>
          <a:noFill/>
        </p:spPr>
        <p:txBody>
          <a:bodyPr wrap="square" rtlCol="0">
            <a:spAutoFit/>
          </a:bodyPr>
          <a:lstStyle/>
          <a:p>
            <a:r>
              <a:rPr lang="en-US" sz="1400" dirty="0"/>
              <a:t>This block has 12 free bytes!</a:t>
            </a:r>
          </a:p>
        </p:txBody>
      </p:sp>
      <p:sp>
        <p:nvSpPr>
          <p:cNvPr id="17" name="Rectangle 16">
            <a:extLst>
              <a:ext uri="{FF2B5EF4-FFF2-40B4-BE49-F238E27FC236}">
                <a16:creationId xmlns:a16="http://schemas.microsoft.com/office/drawing/2014/main" id="{0F01A13C-42C4-91AB-18C4-47E26682F2E2}"/>
              </a:ext>
            </a:extLst>
          </p:cNvPr>
          <p:cNvSpPr/>
          <p:nvPr/>
        </p:nvSpPr>
        <p:spPr>
          <a:xfrm>
            <a:off x="8229574" y="2458632"/>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24F62D7-16FA-C78D-782A-7D7158B9AE08}"/>
              </a:ext>
            </a:extLst>
          </p:cNvPr>
          <p:cNvSpPr/>
          <p:nvPr/>
        </p:nvSpPr>
        <p:spPr>
          <a:xfrm>
            <a:off x="8234111" y="2637502"/>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21" name="Rectangle 20">
            <a:extLst>
              <a:ext uri="{FF2B5EF4-FFF2-40B4-BE49-F238E27FC236}">
                <a16:creationId xmlns:a16="http://schemas.microsoft.com/office/drawing/2014/main" id="{789BDC0F-5EEE-A7FF-9424-19CACEBEA4C4}"/>
              </a:ext>
            </a:extLst>
          </p:cNvPr>
          <p:cNvSpPr/>
          <p:nvPr/>
        </p:nvSpPr>
        <p:spPr>
          <a:xfrm>
            <a:off x="8239820" y="3922823"/>
            <a:ext cx="1634319" cy="17855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22" name="Rectangle 21">
            <a:extLst>
              <a:ext uri="{FF2B5EF4-FFF2-40B4-BE49-F238E27FC236}">
                <a16:creationId xmlns:a16="http://schemas.microsoft.com/office/drawing/2014/main" id="{B4D5BABE-2C60-60A7-78A7-2173C99D3C04}"/>
              </a:ext>
            </a:extLst>
          </p:cNvPr>
          <p:cNvSpPr/>
          <p:nvPr/>
        </p:nvSpPr>
        <p:spPr>
          <a:xfrm>
            <a:off x="8239820" y="3744265"/>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23" name="Rectangle 22">
            <a:extLst>
              <a:ext uri="{FF2B5EF4-FFF2-40B4-BE49-F238E27FC236}">
                <a16:creationId xmlns:a16="http://schemas.microsoft.com/office/drawing/2014/main" id="{A165B2FB-C3EF-F1F0-3914-D0CF2B077344}"/>
              </a:ext>
            </a:extLst>
          </p:cNvPr>
          <p:cNvSpPr/>
          <p:nvPr/>
        </p:nvSpPr>
        <p:spPr>
          <a:xfrm>
            <a:off x="8234697" y="3003987"/>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24" name="Rectangle 23">
            <a:extLst>
              <a:ext uri="{FF2B5EF4-FFF2-40B4-BE49-F238E27FC236}">
                <a16:creationId xmlns:a16="http://schemas.microsoft.com/office/drawing/2014/main" id="{44361477-9B27-32D5-5457-8ADB16387B09}"/>
              </a:ext>
            </a:extLst>
          </p:cNvPr>
          <p:cNvSpPr/>
          <p:nvPr/>
        </p:nvSpPr>
        <p:spPr>
          <a:xfrm>
            <a:off x="8231842" y="2458632"/>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5" name="Rectangle 4">
            <a:extLst>
              <a:ext uri="{FF2B5EF4-FFF2-40B4-BE49-F238E27FC236}">
                <a16:creationId xmlns:a16="http://schemas.microsoft.com/office/drawing/2014/main" id="{55510901-47DB-5485-3A1A-59BBCD32067D}"/>
              </a:ext>
            </a:extLst>
          </p:cNvPr>
          <p:cNvSpPr/>
          <p:nvPr/>
        </p:nvSpPr>
        <p:spPr>
          <a:xfrm>
            <a:off x="8239820" y="4108487"/>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104 bytes</a:t>
            </a:r>
          </a:p>
        </p:txBody>
      </p:sp>
      <p:cxnSp>
        <p:nvCxnSpPr>
          <p:cNvPr id="11" name="Connector: Elbow 10">
            <a:extLst>
              <a:ext uri="{FF2B5EF4-FFF2-40B4-BE49-F238E27FC236}">
                <a16:creationId xmlns:a16="http://schemas.microsoft.com/office/drawing/2014/main" id="{D96BCC22-B486-FE84-3EA1-D0ADC53007D2}"/>
              </a:ext>
            </a:extLst>
          </p:cNvPr>
          <p:cNvCxnSpPr>
            <a:cxnSpLocks/>
            <a:endCxn id="5" idx="1"/>
          </p:cNvCxnSpPr>
          <p:nvPr/>
        </p:nvCxnSpPr>
        <p:spPr>
          <a:xfrm flipV="1">
            <a:off x="5568287" y="4197766"/>
            <a:ext cx="2671533" cy="788216"/>
          </a:xfrm>
          <a:prstGeom prst="bentConnector3">
            <a:avLst>
              <a:gd name="adj1" fmla="val 50000"/>
            </a:avLst>
          </a:prstGeom>
          <a:ln w="12700">
            <a:solidFill>
              <a:srgbClr val="89898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845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#2.1</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Where is this metadata stored?</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2" y="3639407"/>
            <a:ext cx="4254121" cy="3116228"/>
          </a:xfrm>
        </p:spPr>
        <p:txBody>
          <a:bodyPr>
            <a:normAutofit/>
          </a:bodyPr>
          <a:lstStyle/>
          <a:p>
            <a:r>
              <a:rPr lang="en-US" dirty="0"/>
              <a:t>The only place to store this data is also in the heap! For now, we will say the size takes up one int (four bytes), meaning we have to adjust the size of the remaining memory in our heap:</a:t>
            </a:r>
          </a:p>
          <a:p>
            <a:r>
              <a:rPr lang="en-US" dirty="0"/>
              <a:t>128 – (8 + 4) – (12 + 4) – (4 + 4) = 92 = (88 + 4)</a:t>
            </a:r>
          </a:p>
          <a:p>
            <a:r>
              <a:rPr lang="en-US" dirty="0"/>
              <a:t>Now we can:</a:t>
            </a:r>
          </a:p>
          <a:p>
            <a:r>
              <a:rPr lang="en-US" dirty="0"/>
              <a:t>✓ Does not overwrite past allocations</a:t>
            </a:r>
          </a:p>
          <a:p>
            <a:r>
              <a:rPr lang="en-US" dirty="0"/>
              <a:t>✓ Remember the size for when we free</a:t>
            </a:r>
          </a:p>
          <a:p>
            <a:r>
              <a:rPr lang="en-US" dirty="0"/>
              <a:t>✓ Remember if each block is free or allocated</a:t>
            </a:r>
          </a:p>
          <a:p>
            <a:r>
              <a:rPr lang="en-US" b="1" dirty="0"/>
              <a:t>Any more issues?</a:t>
            </a:r>
          </a:p>
          <a:p>
            <a:endParaRPr lang="en-US" b="1" dirty="0"/>
          </a:p>
          <a:p>
            <a:endParaRPr lang="en-US" dirty="0"/>
          </a:p>
          <a:p>
            <a:endParaRPr lang="en-US" b="1" dirty="0"/>
          </a:p>
          <a:p>
            <a:endParaRPr lang="en-US" b="1" dirty="0"/>
          </a:p>
          <a:p>
            <a:endParaRPr lang="en-US" b="1" dirty="0"/>
          </a:p>
          <a:p>
            <a:endParaRPr lang="en-US" dirty="0"/>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9</a:t>
            </a:fld>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7853712" y="4101381"/>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F155BD33-5F09-36ED-EB9C-4779305C6E9C}"/>
              </a:ext>
            </a:extLst>
          </p:cNvPr>
          <p:cNvCxnSpPr>
            <a:cxnSpLocks/>
          </p:cNvCxnSpPr>
          <p:nvPr/>
        </p:nvCxnSpPr>
        <p:spPr>
          <a:xfrm>
            <a:off x="7853711" y="3205291"/>
            <a:ext cx="338351" cy="0"/>
          </a:xfrm>
          <a:prstGeom prst="straightConnector1">
            <a:avLst/>
          </a:prstGeom>
          <a:ln w="12700">
            <a:solidFill>
              <a:srgbClr val="898989"/>
            </a:solidFill>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0F01A13C-42C4-91AB-18C4-47E26682F2E2}"/>
              </a:ext>
            </a:extLst>
          </p:cNvPr>
          <p:cNvSpPr/>
          <p:nvPr/>
        </p:nvSpPr>
        <p:spPr>
          <a:xfrm>
            <a:off x="8229574" y="2458632"/>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24F62D7-16FA-C78D-782A-7D7158B9AE08}"/>
              </a:ext>
            </a:extLst>
          </p:cNvPr>
          <p:cNvSpPr/>
          <p:nvPr/>
        </p:nvSpPr>
        <p:spPr>
          <a:xfrm>
            <a:off x="8234111" y="2637502"/>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21" name="Rectangle 20">
            <a:extLst>
              <a:ext uri="{FF2B5EF4-FFF2-40B4-BE49-F238E27FC236}">
                <a16:creationId xmlns:a16="http://schemas.microsoft.com/office/drawing/2014/main" id="{789BDC0F-5EEE-A7FF-9424-19CACEBEA4C4}"/>
              </a:ext>
            </a:extLst>
          </p:cNvPr>
          <p:cNvSpPr/>
          <p:nvPr/>
        </p:nvSpPr>
        <p:spPr>
          <a:xfrm>
            <a:off x="8239820" y="3922823"/>
            <a:ext cx="1634319" cy="17855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22" name="Rectangle 21">
            <a:extLst>
              <a:ext uri="{FF2B5EF4-FFF2-40B4-BE49-F238E27FC236}">
                <a16:creationId xmlns:a16="http://schemas.microsoft.com/office/drawing/2014/main" id="{B4D5BABE-2C60-60A7-78A7-2173C99D3C04}"/>
              </a:ext>
            </a:extLst>
          </p:cNvPr>
          <p:cNvSpPr/>
          <p:nvPr/>
        </p:nvSpPr>
        <p:spPr>
          <a:xfrm>
            <a:off x="8239820" y="3744265"/>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23" name="Rectangle 22">
            <a:extLst>
              <a:ext uri="{FF2B5EF4-FFF2-40B4-BE49-F238E27FC236}">
                <a16:creationId xmlns:a16="http://schemas.microsoft.com/office/drawing/2014/main" id="{A165B2FB-C3EF-F1F0-3914-D0CF2B077344}"/>
              </a:ext>
            </a:extLst>
          </p:cNvPr>
          <p:cNvSpPr/>
          <p:nvPr/>
        </p:nvSpPr>
        <p:spPr>
          <a:xfrm>
            <a:off x="8234697" y="3003987"/>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24" name="Rectangle 23">
            <a:extLst>
              <a:ext uri="{FF2B5EF4-FFF2-40B4-BE49-F238E27FC236}">
                <a16:creationId xmlns:a16="http://schemas.microsoft.com/office/drawing/2014/main" id="{44361477-9B27-32D5-5457-8ADB16387B09}"/>
              </a:ext>
            </a:extLst>
          </p:cNvPr>
          <p:cNvSpPr/>
          <p:nvPr/>
        </p:nvSpPr>
        <p:spPr>
          <a:xfrm>
            <a:off x="8231842" y="2458632"/>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5" name="Rectangle 4">
            <a:extLst>
              <a:ext uri="{FF2B5EF4-FFF2-40B4-BE49-F238E27FC236}">
                <a16:creationId xmlns:a16="http://schemas.microsoft.com/office/drawing/2014/main" id="{55510901-47DB-5485-3A1A-59BBCD32067D}"/>
              </a:ext>
            </a:extLst>
          </p:cNvPr>
          <p:cNvSpPr/>
          <p:nvPr/>
        </p:nvSpPr>
        <p:spPr>
          <a:xfrm>
            <a:off x="8239820" y="4108487"/>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88 bytes</a:t>
            </a:r>
          </a:p>
        </p:txBody>
      </p:sp>
    </p:spTree>
    <p:extLst>
      <p:ext uri="{BB962C8B-B14F-4D97-AF65-F5344CB8AC3E}">
        <p14:creationId xmlns:p14="http://schemas.microsoft.com/office/powerpoint/2010/main" val="120995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#2.1</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err="1"/>
              <a:t>Free’ing</a:t>
            </a:r>
            <a:r>
              <a:rPr lang="en-US" dirty="0"/>
              <a:t> makes our blocks smaller</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2" y="3639407"/>
            <a:ext cx="4254121" cy="3116228"/>
          </a:xfrm>
        </p:spPr>
        <p:txBody>
          <a:bodyPr>
            <a:normAutofit/>
          </a:bodyPr>
          <a:lstStyle/>
          <a:p>
            <a:r>
              <a:rPr lang="en-US" dirty="0"/>
              <a:t>With this approach, our heap may get “fragmented” into a bunch of small chunks, and if we need to allocate a large block, we will not be able to even though we have more than enough space.</a:t>
            </a:r>
          </a:p>
          <a:p>
            <a:endParaRPr lang="en-US" b="1" dirty="0"/>
          </a:p>
          <a:p>
            <a:r>
              <a:rPr lang="en-US" b="1" dirty="0"/>
              <a:t>Conclusion: We need to ‘merge’ free blocks together.</a:t>
            </a:r>
          </a:p>
          <a:p>
            <a:endParaRPr lang="en-US" b="1" dirty="0"/>
          </a:p>
          <a:p>
            <a:endParaRPr lang="en-US" dirty="0"/>
          </a:p>
          <a:p>
            <a:endParaRPr lang="en-US" b="1" dirty="0"/>
          </a:p>
          <a:p>
            <a:endParaRPr lang="en-US" b="1" dirty="0"/>
          </a:p>
          <a:p>
            <a:endParaRPr lang="en-US" b="1" dirty="0"/>
          </a:p>
          <a:p>
            <a:endParaRPr lang="en-US" dirty="0"/>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10</a:t>
            </a:fld>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6600419" y="4069537"/>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0F01A13C-42C4-91AB-18C4-47E26682F2E2}"/>
              </a:ext>
            </a:extLst>
          </p:cNvPr>
          <p:cNvSpPr/>
          <p:nvPr/>
        </p:nvSpPr>
        <p:spPr>
          <a:xfrm>
            <a:off x="6976281" y="242678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24F62D7-16FA-C78D-782A-7D7158B9AE08}"/>
              </a:ext>
            </a:extLst>
          </p:cNvPr>
          <p:cNvSpPr/>
          <p:nvPr/>
        </p:nvSpPr>
        <p:spPr>
          <a:xfrm>
            <a:off x="6980818" y="2605658"/>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22" name="Rectangle 21">
            <a:extLst>
              <a:ext uri="{FF2B5EF4-FFF2-40B4-BE49-F238E27FC236}">
                <a16:creationId xmlns:a16="http://schemas.microsoft.com/office/drawing/2014/main" id="{B4D5BABE-2C60-60A7-78A7-2173C99D3C04}"/>
              </a:ext>
            </a:extLst>
          </p:cNvPr>
          <p:cNvSpPr/>
          <p:nvPr/>
        </p:nvSpPr>
        <p:spPr>
          <a:xfrm>
            <a:off x="6986527" y="3712421"/>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23" name="Rectangle 22">
            <a:extLst>
              <a:ext uri="{FF2B5EF4-FFF2-40B4-BE49-F238E27FC236}">
                <a16:creationId xmlns:a16="http://schemas.microsoft.com/office/drawing/2014/main" id="{A165B2FB-C3EF-F1F0-3914-D0CF2B077344}"/>
              </a:ext>
            </a:extLst>
          </p:cNvPr>
          <p:cNvSpPr/>
          <p:nvPr/>
        </p:nvSpPr>
        <p:spPr>
          <a:xfrm>
            <a:off x="6981404" y="297214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24" name="Rectangle 23">
            <a:extLst>
              <a:ext uri="{FF2B5EF4-FFF2-40B4-BE49-F238E27FC236}">
                <a16:creationId xmlns:a16="http://schemas.microsoft.com/office/drawing/2014/main" id="{44361477-9B27-32D5-5457-8ADB16387B09}"/>
              </a:ext>
            </a:extLst>
          </p:cNvPr>
          <p:cNvSpPr/>
          <p:nvPr/>
        </p:nvSpPr>
        <p:spPr>
          <a:xfrm>
            <a:off x="6978549" y="2426788"/>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5" name="Rectangle 4">
            <a:extLst>
              <a:ext uri="{FF2B5EF4-FFF2-40B4-BE49-F238E27FC236}">
                <a16:creationId xmlns:a16="http://schemas.microsoft.com/office/drawing/2014/main" id="{55510901-47DB-5485-3A1A-59BBCD32067D}"/>
              </a:ext>
            </a:extLst>
          </p:cNvPr>
          <p:cNvSpPr/>
          <p:nvPr/>
        </p:nvSpPr>
        <p:spPr>
          <a:xfrm>
            <a:off x="6986527" y="407664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88 bytes</a:t>
            </a:r>
          </a:p>
        </p:txBody>
      </p:sp>
      <p:cxnSp>
        <p:nvCxnSpPr>
          <p:cNvPr id="7" name="Straight Arrow Connector 6">
            <a:extLst>
              <a:ext uri="{FF2B5EF4-FFF2-40B4-BE49-F238E27FC236}">
                <a16:creationId xmlns:a16="http://schemas.microsoft.com/office/drawing/2014/main" id="{D8A2574F-BF57-1FC3-F8B0-BD49D657ECBF}"/>
              </a:ext>
            </a:extLst>
          </p:cNvPr>
          <p:cNvCxnSpPr>
            <a:cxnSpLocks/>
          </p:cNvCxnSpPr>
          <p:nvPr/>
        </p:nvCxnSpPr>
        <p:spPr>
          <a:xfrm>
            <a:off x="9587004" y="4069537"/>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50AF6F75-2F2B-0336-DCE0-707E8B548197}"/>
              </a:ext>
            </a:extLst>
          </p:cNvPr>
          <p:cNvSpPr/>
          <p:nvPr/>
        </p:nvSpPr>
        <p:spPr>
          <a:xfrm>
            <a:off x="9962866" y="2426788"/>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3FC76D3-068B-F7F5-2CD4-0AF1ACB508C3}"/>
              </a:ext>
            </a:extLst>
          </p:cNvPr>
          <p:cNvSpPr/>
          <p:nvPr/>
        </p:nvSpPr>
        <p:spPr>
          <a:xfrm>
            <a:off x="9967403" y="2605658"/>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11" name="Rectangle 10">
            <a:extLst>
              <a:ext uri="{FF2B5EF4-FFF2-40B4-BE49-F238E27FC236}">
                <a16:creationId xmlns:a16="http://schemas.microsoft.com/office/drawing/2014/main" id="{DF992A11-B102-5B3E-D08D-1571FEB5E130}"/>
              </a:ext>
            </a:extLst>
          </p:cNvPr>
          <p:cNvSpPr/>
          <p:nvPr/>
        </p:nvSpPr>
        <p:spPr>
          <a:xfrm>
            <a:off x="9973112" y="3712421"/>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12" name="Rectangle 11">
            <a:extLst>
              <a:ext uri="{FF2B5EF4-FFF2-40B4-BE49-F238E27FC236}">
                <a16:creationId xmlns:a16="http://schemas.microsoft.com/office/drawing/2014/main" id="{ADFA138E-CCC0-DA15-5523-4685FA05645C}"/>
              </a:ext>
            </a:extLst>
          </p:cNvPr>
          <p:cNvSpPr/>
          <p:nvPr/>
        </p:nvSpPr>
        <p:spPr>
          <a:xfrm>
            <a:off x="9967989" y="297214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13" name="Rectangle 12">
            <a:extLst>
              <a:ext uri="{FF2B5EF4-FFF2-40B4-BE49-F238E27FC236}">
                <a16:creationId xmlns:a16="http://schemas.microsoft.com/office/drawing/2014/main" id="{169E3FFD-1984-1E02-C7DE-7355FFD8B617}"/>
              </a:ext>
            </a:extLst>
          </p:cNvPr>
          <p:cNvSpPr/>
          <p:nvPr/>
        </p:nvSpPr>
        <p:spPr>
          <a:xfrm>
            <a:off x="9965134" y="2426788"/>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14" name="Rectangle 13">
            <a:extLst>
              <a:ext uri="{FF2B5EF4-FFF2-40B4-BE49-F238E27FC236}">
                <a16:creationId xmlns:a16="http://schemas.microsoft.com/office/drawing/2014/main" id="{41590C24-BF75-A366-DDFA-FF4E7DDA1657}"/>
              </a:ext>
            </a:extLst>
          </p:cNvPr>
          <p:cNvSpPr/>
          <p:nvPr/>
        </p:nvSpPr>
        <p:spPr>
          <a:xfrm>
            <a:off x="9973112" y="407664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 bytes</a:t>
            </a:r>
          </a:p>
        </p:txBody>
      </p:sp>
      <p:sp>
        <p:nvSpPr>
          <p:cNvPr id="15" name="Rectangle 14">
            <a:extLst>
              <a:ext uri="{FF2B5EF4-FFF2-40B4-BE49-F238E27FC236}">
                <a16:creationId xmlns:a16="http://schemas.microsoft.com/office/drawing/2014/main" id="{738E18DF-38D2-2CB3-C8A0-0B7C3D90BF88}"/>
              </a:ext>
            </a:extLst>
          </p:cNvPr>
          <p:cNvSpPr/>
          <p:nvPr/>
        </p:nvSpPr>
        <p:spPr>
          <a:xfrm>
            <a:off x="9962865" y="4464249"/>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 bytes</a:t>
            </a:r>
          </a:p>
        </p:txBody>
      </p:sp>
      <p:sp>
        <p:nvSpPr>
          <p:cNvPr id="16" name="Rectangle 15">
            <a:extLst>
              <a:ext uri="{FF2B5EF4-FFF2-40B4-BE49-F238E27FC236}">
                <a16:creationId xmlns:a16="http://schemas.microsoft.com/office/drawing/2014/main" id="{2308F89D-F305-9846-394E-AD2EB8187F21}"/>
              </a:ext>
            </a:extLst>
          </p:cNvPr>
          <p:cNvSpPr/>
          <p:nvPr/>
        </p:nvSpPr>
        <p:spPr>
          <a:xfrm>
            <a:off x="9973111" y="505253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18" name="TextBox 17">
            <a:extLst>
              <a:ext uri="{FF2B5EF4-FFF2-40B4-BE49-F238E27FC236}">
                <a16:creationId xmlns:a16="http://schemas.microsoft.com/office/drawing/2014/main" id="{CAB0F5E3-B50D-132A-E1F1-402BC9DA5D08}"/>
              </a:ext>
            </a:extLst>
          </p:cNvPr>
          <p:cNvSpPr txBox="1"/>
          <p:nvPr/>
        </p:nvSpPr>
        <p:spPr>
          <a:xfrm>
            <a:off x="10545652" y="4618802"/>
            <a:ext cx="489236" cy="369332"/>
          </a:xfrm>
          <a:prstGeom prst="rect">
            <a:avLst/>
          </a:prstGeom>
          <a:noFill/>
        </p:spPr>
        <p:txBody>
          <a:bodyPr wrap="none" rtlCol="0">
            <a:spAutoFit/>
          </a:bodyPr>
          <a:lstStyle/>
          <a:p>
            <a:r>
              <a:rPr lang="en-US" dirty="0"/>
              <a:t>. . .</a:t>
            </a:r>
          </a:p>
        </p:txBody>
      </p:sp>
    </p:spTree>
    <p:extLst>
      <p:ext uri="{BB962C8B-B14F-4D97-AF65-F5344CB8AC3E}">
        <p14:creationId xmlns:p14="http://schemas.microsoft.com/office/powerpoint/2010/main" val="87568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Rudimentary idea #2.2</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When and how do we merge?</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2" y="3639407"/>
            <a:ext cx="4254121" cy="3116228"/>
          </a:xfrm>
        </p:spPr>
        <p:txBody>
          <a:bodyPr>
            <a:normAutofit/>
          </a:bodyPr>
          <a:lstStyle/>
          <a:p>
            <a:r>
              <a:rPr lang="en-US" dirty="0"/>
              <a:t>When we free a block, we can check if any neighbors are also free and merge.</a:t>
            </a:r>
          </a:p>
          <a:p>
            <a:endParaRPr lang="en-US" dirty="0"/>
          </a:p>
          <a:p>
            <a:r>
              <a:rPr lang="en-US" dirty="0"/>
              <a:t>However, how do we know where the metadata is for the block above?</a:t>
            </a:r>
          </a:p>
          <a:p>
            <a:endParaRPr lang="en-US" b="1" dirty="0"/>
          </a:p>
          <a:p>
            <a:r>
              <a:rPr lang="en-US" b="1" dirty="0"/>
              <a:t>Conclusion: We also need a “footer” to store the metadata at the bottom of the block</a:t>
            </a:r>
          </a:p>
          <a:p>
            <a:endParaRPr lang="en-US" b="1" dirty="0"/>
          </a:p>
          <a:p>
            <a:endParaRPr lang="en-US" dirty="0"/>
          </a:p>
          <a:p>
            <a:endParaRPr lang="en-US" b="1" dirty="0"/>
          </a:p>
          <a:p>
            <a:endParaRPr lang="en-US" b="1" dirty="0"/>
          </a:p>
          <a:p>
            <a:endParaRPr lang="en-US" b="1" dirty="0"/>
          </a:p>
          <a:p>
            <a:endParaRPr lang="en-US" dirty="0"/>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11</a:t>
            </a:fld>
            <a:endParaRPr lang="en-US" dirty="0"/>
          </a:p>
        </p:txBody>
      </p:sp>
      <p:cxnSp>
        <p:nvCxnSpPr>
          <p:cNvPr id="43" name="Straight Arrow Connector 42">
            <a:extLst>
              <a:ext uri="{FF2B5EF4-FFF2-40B4-BE49-F238E27FC236}">
                <a16:creationId xmlns:a16="http://schemas.microsoft.com/office/drawing/2014/main" id="{6C1CB9DC-94AE-32CA-A100-DB4F601BFDC7}"/>
              </a:ext>
            </a:extLst>
          </p:cNvPr>
          <p:cNvCxnSpPr>
            <a:cxnSpLocks/>
          </p:cNvCxnSpPr>
          <p:nvPr/>
        </p:nvCxnSpPr>
        <p:spPr>
          <a:xfrm>
            <a:off x="8194352" y="4095886"/>
            <a:ext cx="33835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7" name="Rectangle 16">
            <a:extLst>
              <a:ext uri="{FF2B5EF4-FFF2-40B4-BE49-F238E27FC236}">
                <a16:creationId xmlns:a16="http://schemas.microsoft.com/office/drawing/2014/main" id="{0F01A13C-42C4-91AB-18C4-47E26682F2E2}"/>
              </a:ext>
            </a:extLst>
          </p:cNvPr>
          <p:cNvSpPr/>
          <p:nvPr/>
        </p:nvSpPr>
        <p:spPr>
          <a:xfrm>
            <a:off x="8610600" y="2720974"/>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24F62D7-16FA-C78D-782A-7D7158B9AE08}"/>
              </a:ext>
            </a:extLst>
          </p:cNvPr>
          <p:cNvSpPr/>
          <p:nvPr/>
        </p:nvSpPr>
        <p:spPr>
          <a:xfrm>
            <a:off x="8615137" y="2899844"/>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22" name="Rectangle 21">
            <a:extLst>
              <a:ext uri="{FF2B5EF4-FFF2-40B4-BE49-F238E27FC236}">
                <a16:creationId xmlns:a16="http://schemas.microsoft.com/office/drawing/2014/main" id="{B4D5BABE-2C60-60A7-78A7-2173C99D3C04}"/>
              </a:ext>
            </a:extLst>
          </p:cNvPr>
          <p:cNvSpPr/>
          <p:nvPr/>
        </p:nvSpPr>
        <p:spPr>
          <a:xfrm>
            <a:off x="8620846" y="4006607"/>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23" name="Rectangle 22">
            <a:extLst>
              <a:ext uri="{FF2B5EF4-FFF2-40B4-BE49-F238E27FC236}">
                <a16:creationId xmlns:a16="http://schemas.microsoft.com/office/drawing/2014/main" id="{A165B2FB-C3EF-F1F0-3914-D0CF2B077344}"/>
              </a:ext>
            </a:extLst>
          </p:cNvPr>
          <p:cNvSpPr/>
          <p:nvPr/>
        </p:nvSpPr>
        <p:spPr>
          <a:xfrm>
            <a:off x="8615723" y="3266329"/>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24" name="Rectangle 23">
            <a:extLst>
              <a:ext uri="{FF2B5EF4-FFF2-40B4-BE49-F238E27FC236}">
                <a16:creationId xmlns:a16="http://schemas.microsoft.com/office/drawing/2014/main" id="{44361477-9B27-32D5-5457-8ADB16387B09}"/>
              </a:ext>
            </a:extLst>
          </p:cNvPr>
          <p:cNvSpPr/>
          <p:nvPr/>
        </p:nvSpPr>
        <p:spPr>
          <a:xfrm>
            <a:off x="8612868" y="2720974"/>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5" name="Rectangle 4">
            <a:extLst>
              <a:ext uri="{FF2B5EF4-FFF2-40B4-BE49-F238E27FC236}">
                <a16:creationId xmlns:a16="http://schemas.microsoft.com/office/drawing/2014/main" id="{55510901-47DB-5485-3A1A-59BBCD32067D}"/>
              </a:ext>
            </a:extLst>
          </p:cNvPr>
          <p:cNvSpPr/>
          <p:nvPr/>
        </p:nvSpPr>
        <p:spPr>
          <a:xfrm>
            <a:off x="8620846" y="4370829"/>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88 bytes</a:t>
            </a:r>
          </a:p>
        </p:txBody>
      </p:sp>
      <p:sp>
        <p:nvSpPr>
          <p:cNvPr id="6" name="TextBox 5">
            <a:extLst>
              <a:ext uri="{FF2B5EF4-FFF2-40B4-BE49-F238E27FC236}">
                <a16:creationId xmlns:a16="http://schemas.microsoft.com/office/drawing/2014/main" id="{85C66F24-17FC-55F6-2456-97DA3B48A6FD}"/>
              </a:ext>
            </a:extLst>
          </p:cNvPr>
          <p:cNvSpPr txBox="1"/>
          <p:nvPr/>
        </p:nvSpPr>
        <p:spPr>
          <a:xfrm>
            <a:off x="6937332" y="3218671"/>
            <a:ext cx="1634319" cy="954107"/>
          </a:xfrm>
          <a:prstGeom prst="rect">
            <a:avLst/>
          </a:prstGeom>
          <a:noFill/>
        </p:spPr>
        <p:txBody>
          <a:bodyPr wrap="square" rtlCol="0">
            <a:spAutoFit/>
          </a:bodyPr>
          <a:lstStyle/>
          <a:p>
            <a:pPr algn="ctr"/>
            <a:r>
              <a:rPr lang="en-US" sz="1400" dirty="0"/>
              <a:t>Are you free? </a:t>
            </a:r>
            <a:r>
              <a:rPr lang="en-US" sz="1400" b="0" i="0" dirty="0">
                <a:solidFill>
                  <a:srgbClr val="1E1E1E"/>
                </a:solidFill>
                <a:effectLst/>
                <a:latin typeface="Proxima Bold"/>
              </a:rPr>
              <a:t>👉👈</a:t>
            </a:r>
          </a:p>
          <a:p>
            <a:pPr algn="ctr"/>
            <a:r>
              <a:rPr lang="en-US" sz="1400" dirty="0">
                <a:solidFill>
                  <a:srgbClr val="1E1E1E"/>
                </a:solidFill>
                <a:latin typeface="Proxima Bold"/>
              </a:rPr>
              <a:t>How big are you?</a:t>
            </a:r>
            <a:endParaRPr lang="en-US" sz="1400" b="0" i="0" dirty="0">
              <a:solidFill>
                <a:srgbClr val="1E1E1E"/>
              </a:solidFill>
              <a:effectLst/>
              <a:latin typeface="Proxima Bold"/>
            </a:endParaRPr>
          </a:p>
          <a:p>
            <a:endParaRPr lang="en-US" sz="1400" dirty="0"/>
          </a:p>
        </p:txBody>
      </p:sp>
      <p:sp>
        <p:nvSpPr>
          <p:cNvPr id="20" name="TextBox 19">
            <a:extLst>
              <a:ext uri="{FF2B5EF4-FFF2-40B4-BE49-F238E27FC236}">
                <a16:creationId xmlns:a16="http://schemas.microsoft.com/office/drawing/2014/main" id="{E14142D6-7B2C-1121-6D47-F64D47299295}"/>
              </a:ext>
            </a:extLst>
          </p:cNvPr>
          <p:cNvSpPr txBox="1"/>
          <p:nvPr/>
        </p:nvSpPr>
        <p:spPr>
          <a:xfrm>
            <a:off x="6937332" y="4310457"/>
            <a:ext cx="1755139" cy="954107"/>
          </a:xfrm>
          <a:prstGeom prst="rect">
            <a:avLst/>
          </a:prstGeom>
          <a:noFill/>
        </p:spPr>
        <p:txBody>
          <a:bodyPr wrap="square" rtlCol="0">
            <a:spAutoFit/>
          </a:bodyPr>
          <a:lstStyle/>
          <a:p>
            <a:pPr algn="ctr"/>
            <a:r>
              <a:rPr lang="en-US" sz="1400" dirty="0"/>
              <a:t>Are you free? </a:t>
            </a:r>
          </a:p>
          <a:p>
            <a:pPr algn="ctr"/>
            <a:r>
              <a:rPr lang="en-US" sz="1400" b="0" i="0" dirty="0">
                <a:solidFill>
                  <a:srgbClr val="1E1E1E"/>
                </a:solidFill>
                <a:effectLst/>
                <a:latin typeface="Proxima Bold"/>
              </a:rPr>
              <a:t>👉👈</a:t>
            </a:r>
          </a:p>
          <a:p>
            <a:pPr algn="ctr"/>
            <a:r>
              <a:rPr lang="en-US" sz="1400" dirty="0">
                <a:solidFill>
                  <a:srgbClr val="1E1E1E"/>
                </a:solidFill>
                <a:latin typeface="Proxima Bold"/>
              </a:rPr>
              <a:t>I see you’re 88 bytes</a:t>
            </a:r>
            <a:endParaRPr lang="en-US" sz="1400" b="0" i="0" dirty="0">
              <a:solidFill>
                <a:srgbClr val="1E1E1E"/>
              </a:solidFill>
              <a:effectLst/>
              <a:latin typeface="Proxima Bold"/>
            </a:endParaRPr>
          </a:p>
          <a:p>
            <a:endParaRPr lang="en-US" sz="1400" dirty="0"/>
          </a:p>
        </p:txBody>
      </p:sp>
      <p:cxnSp>
        <p:nvCxnSpPr>
          <p:cNvPr id="21" name="Straight Arrow Connector 20">
            <a:extLst>
              <a:ext uri="{FF2B5EF4-FFF2-40B4-BE49-F238E27FC236}">
                <a16:creationId xmlns:a16="http://schemas.microsoft.com/office/drawing/2014/main" id="{C124F961-081E-6274-E33A-759CFF64E97F}"/>
              </a:ext>
            </a:extLst>
          </p:cNvPr>
          <p:cNvCxnSpPr>
            <a:cxnSpLocks/>
          </p:cNvCxnSpPr>
          <p:nvPr/>
        </p:nvCxnSpPr>
        <p:spPr>
          <a:xfrm>
            <a:off x="8194353" y="3578330"/>
            <a:ext cx="338351" cy="0"/>
          </a:xfrm>
          <a:prstGeom prst="straightConnector1">
            <a:avLst/>
          </a:prstGeom>
          <a:ln w="12700">
            <a:solidFill>
              <a:srgbClr val="898989"/>
            </a:solidFill>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F28D55DA-5ACD-14E9-47B3-569C9D1ED8DD}"/>
              </a:ext>
            </a:extLst>
          </p:cNvPr>
          <p:cNvCxnSpPr>
            <a:cxnSpLocks/>
          </p:cNvCxnSpPr>
          <p:nvPr/>
        </p:nvCxnSpPr>
        <p:spPr>
          <a:xfrm>
            <a:off x="8194353" y="4688348"/>
            <a:ext cx="338351" cy="0"/>
          </a:xfrm>
          <a:prstGeom prst="straightConnector1">
            <a:avLst/>
          </a:prstGeom>
          <a:ln w="12700">
            <a:solidFill>
              <a:srgbClr val="898989"/>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95023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7AE81C1E-A7C3-40CD-9C11-0C03A2221292}"/>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12</a:t>
            </a:fld>
            <a:endParaRPr lang="en-US" dirty="0"/>
          </a:p>
        </p:txBody>
      </p:sp>
      <p:sp>
        <p:nvSpPr>
          <p:cNvPr id="9" name="Text Placeholder 2">
            <a:extLst>
              <a:ext uri="{FF2B5EF4-FFF2-40B4-BE49-F238E27FC236}">
                <a16:creationId xmlns:a16="http://schemas.microsoft.com/office/drawing/2014/main" id="{4F0FDEFF-5AA0-753E-8236-950F71EBEE24}"/>
              </a:ext>
            </a:extLst>
          </p:cNvPr>
          <p:cNvSpPr txBox="1">
            <a:spLocks/>
          </p:cNvSpPr>
          <p:nvPr/>
        </p:nvSpPr>
        <p:spPr>
          <a:xfrm>
            <a:off x="3540125" y="1212658"/>
            <a:ext cx="5111750" cy="94243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800" dirty="0"/>
              <a:t>Your Lab: Simple Memory Allocation Scheme</a:t>
            </a:r>
          </a:p>
        </p:txBody>
      </p:sp>
      <p:sp>
        <p:nvSpPr>
          <p:cNvPr id="16" name="Text Placeholder 2">
            <a:extLst>
              <a:ext uri="{FF2B5EF4-FFF2-40B4-BE49-F238E27FC236}">
                <a16:creationId xmlns:a16="http://schemas.microsoft.com/office/drawing/2014/main" id="{B7DE2E9A-0126-5A0A-238C-453355728200}"/>
              </a:ext>
            </a:extLst>
          </p:cNvPr>
          <p:cNvSpPr>
            <a:spLocks noGrp="1"/>
          </p:cNvSpPr>
          <p:nvPr>
            <p:ph type="body" idx="1"/>
          </p:nvPr>
        </p:nvSpPr>
        <p:spPr>
          <a:xfrm>
            <a:off x="1755443" y="2720974"/>
            <a:ext cx="3924300" cy="823912"/>
          </a:xfrm>
        </p:spPr>
        <p:txBody>
          <a:bodyPr/>
          <a:lstStyle/>
          <a:p>
            <a:r>
              <a:rPr lang="en-US" dirty="0"/>
              <a:t>Overview</a:t>
            </a:r>
          </a:p>
        </p:txBody>
      </p:sp>
      <p:sp>
        <p:nvSpPr>
          <p:cNvPr id="17" name="Content Placeholder 3">
            <a:extLst>
              <a:ext uri="{FF2B5EF4-FFF2-40B4-BE49-F238E27FC236}">
                <a16:creationId xmlns:a16="http://schemas.microsoft.com/office/drawing/2014/main" id="{B9D9774A-F6DE-CD6D-C4A2-E7A010719EEA}"/>
              </a:ext>
            </a:extLst>
          </p:cNvPr>
          <p:cNvSpPr>
            <a:spLocks noGrp="1"/>
          </p:cNvSpPr>
          <p:nvPr>
            <p:ph sz="half" idx="2"/>
          </p:nvPr>
        </p:nvSpPr>
        <p:spPr>
          <a:xfrm>
            <a:off x="1755442" y="3639407"/>
            <a:ext cx="4254121" cy="3116228"/>
          </a:xfrm>
        </p:spPr>
        <p:txBody>
          <a:bodyPr>
            <a:normAutofit/>
          </a:bodyPr>
          <a:lstStyle/>
          <a:p>
            <a:r>
              <a:rPr lang="en-US" dirty="0"/>
              <a:t>We successfully meet all our previous criteria if we:</a:t>
            </a:r>
          </a:p>
          <a:p>
            <a:r>
              <a:rPr lang="en-US" dirty="0"/>
              <a:t>- Keep metadata that describes the size and status of each block</a:t>
            </a:r>
          </a:p>
          <a:p>
            <a:r>
              <a:rPr lang="en-US" dirty="0"/>
              <a:t>- Keep a copy of this meta data at the start and end of each block so it is easy to merge</a:t>
            </a:r>
          </a:p>
          <a:p>
            <a:endParaRPr lang="en-US" dirty="0"/>
          </a:p>
          <a:p>
            <a:r>
              <a:rPr lang="en-US" b="1" dirty="0"/>
              <a:t>But wait, can we do even better? What is the slowest part of allocating memory using this process?</a:t>
            </a:r>
          </a:p>
          <a:p>
            <a:endParaRPr lang="en-US" dirty="0"/>
          </a:p>
          <a:p>
            <a:endParaRPr lang="en-US" b="1" dirty="0"/>
          </a:p>
          <a:p>
            <a:endParaRPr lang="en-US" b="1" dirty="0"/>
          </a:p>
          <a:p>
            <a:endParaRPr lang="en-US" b="1" dirty="0"/>
          </a:p>
          <a:p>
            <a:endParaRPr lang="en-US" dirty="0"/>
          </a:p>
          <a:p>
            <a:endParaRPr lang="en-US" dirty="0"/>
          </a:p>
          <a:p>
            <a:endParaRPr lang="en-US" dirty="0"/>
          </a:p>
          <a:p>
            <a:endParaRPr lang="en-US" dirty="0"/>
          </a:p>
        </p:txBody>
      </p:sp>
      <p:sp>
        <p:nvSpPr>
          <p:cNvPr id="32" name="Rectangle 31">
            <a:extLst>
              <a:ext uri="{FF2B5EF4-FFF2-40B4-BE49-F238E27FC236}">
                <a16:creationId xmlns:a16="http://schemas.microsoft.com/office/drawing/2014/main" id="{7FEF01BF-0E8D-CEE8-1EAD-B6C88419B092}"/>
              </a:ext>
            </a:extLst>
          </p:cNvPr>
          <p:cNvSpPr/>
          <p:nvPr/>
        </p:nvSpPr>
        <p:spPr>
          <a:xfrm>
            <a:off x="8610600" y="2720974"/>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5EBE43AA-FD38-028A-D681-6F17157A9E1E}"/>
              </a:ext>
            </a:extLst>
          </p:cNvPr>
          <p:cNvSpPr/>
          <p:nvPr/>
        </p:nvSpPr>
        <p:spPr>
          <a:xfrm>
            <a:off x="8615137" y="2899844"/>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34" name="Rectangle 33">
            <a:extLst>
              <a:ext uri="{FF2B5EF4-FFF2-40B4-BE49-F238E27FC236}">
                <a16:creationId xmlns:a16="http://schemas.microsoft.com/office/drawing/2014/main" id="{6DB4EC9C-A2B6-5AAF-7D3A-356ECD61BA50}"/>
              </a:ext>
            </a:extLst>
          </p:cNvPr>
          <p:cNvSpPr/>
          <p:nvPr/>
        </p:nvSpPr>
        <p:spPr>
          <a:xfrm>
            <a:off x="8617433" y="4381084"/>
            <a:ext cx="1634319" cy="17855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35" name="Rectangle 34">
            <a:extLst>
              <a:ext uri="{FF2B5EF4-FFF2-40B4-BE49-F238E27FC236}">
                <a16:creationId xmlns:a16="http://schemas.microsoft.com/office/drawing/2014/main" id="{83DF85CE-CF46-3FB6-8F68-714040B2C95E}"/>
              </a:ext>
            </a:extLst>
          </p:cNvPr>
          <p:cNvSpPr/>
          <p:nvPr/>
        </p:nvSpPr>
        <p:spPr>
          <a:xfrm>
            <a:off x="8617433" y="4202526"/>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36" name="Rectangle 35">
            <a:extLst>
              <a:ext uri="{FF2B5EF4-FFF2-40B4-BE49-F238E27FC236}">
                <a16:creationId xmlns:a16="http://schemas.microsoft.com/office/drawing/2014/main" id="{DF61F753-93F7-BFFD-302B-638100E98039}"/>
              </a:ext>
            </a:extLst>
          </p:cNvPr>
          <p:cNvSpPr/>
          <p:nvPr/>
        </p:nvSpPr>
        <p:spPr>
          <a:xfrm>
            <a:off x="8615723" y="3266329"/>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37" name="Rectangle 36">
            <a:extLst>
              <a:ext uri="{FF2B5EF4-FFF2-40B4-BE49-F238E27FC236}">
                <a16:creationId xmlns:a16="http://schemas.microsoft.com/office/drawing/2014/main" id="{822667DD-4718-DA80-9256-BE49BC6DE256}"/>
              </a:ext>
            </a:extLst>
          </p:cNvPr>
          <p:cNvSpPr/>
          <p:nvPr/>
        </p:nvSpPr>
        <p:spPr>
          <a:xfrm>
            <a:off x="8612868" y="2720974"/>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38" name="Rectangle 37">
            <a:extLst>
              <a:ext uri="{FF2B5EF4-FFF2-40B4-BE49-F238E27FC236}">
                <a16:creationId xmlns:a16="http://schemas.microsoft.com/office/drawing/2014/main" id="{89CE6FD3-4172-17A0-FF1C-A1EC914A7354}"/>
              </a:ext>
            </a:extLst>
          </p:cNvPr>
          <p:cNvSpPr/>
          <p:nvPr/>
        </p:nvSpPr>
        <p:spPr>
          <a:xfrm>
            <a:off x="8617432" y="4730679"/>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bytes</a:t>
            </a:r>
          </a:p>
        </p:txBody>
      </p:sp>
      <p:sp>
        <p:nvSpPr>
          <p:cNvPr id="39" name="Rectangle 38">
            <a:extLst>
              <a:ext uri="{FF2B5EF4-FFF2-40B4-BE49-F238E27FC236}">
                <a16:creationId xmlns:a16="http://schemas.microsoft.com/office/drawing/2014/main" id="{60D5EB06-8C58-77C2-79A4-83AE3F85212F}"/>
              </a:ext>
            </a:extLst>
          </p:cNvPr>
          <p:cNvSpPr/>
          <p:nvPr/>
        </p:nvSpPr>
        <p:spPr>
          <a:xfrm>
            <a:off x="8610599" y="5456628"/>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bytes</a:t>
            </a:r>
          </a:p>
        </p:txBody>
      </p:sp>
      <p:sp>
        <p:nvSpPr>
          <p:cNvPr id="40" name="Rectangle 39">
            <a:extLst>
              <a:ext uri="{FF2B5EF4-FFF2-40B4-BE49-F238E27FC236}">
                <a16:creationId xmlns:a16="http://schemas.microsoft.com/office/drawing/2014/main" id="{24B03160-C09F-0D8E-DEA9-FDE040BC160F}"/>
              </a:ext>
            </a:extLst>
          </p:cNvPr>
          <p:cNvSpPr/>
          <p:nvPr/>
        </p:nvSpPr>
        <p:spPr>
          <a:xfrm>
            <a:off x="8617432" y="455515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41" name="Rectangle 40">
            <a:extLst>
              <a:ext uri="{FF2B5EF4-FFF2-40B4-BE49-F238E27FC236}">
                <a16:creationId xmlns:a16="http://schemas.microsoft.com/office/drawing/2014/main" id="{6E73BC01-2168-2CAF-386F-8DF2A28B8B0D}"/>
              </a:ext>
            </a:extLst>
          </p:cNvPr>
          <p:cNvSpPr/>
          <p:nvPr/>
        </p:nvSpPr>
        <p:spPr>
          <a:xfrm>
            <a:off x="8620845" y="344692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42" name="Rectangle 41">
            <a:extLst>
              <a:ext uri="{FF2B5EF4-FFF2-40B4-BE49-F238E27FC236}">
                <a16:creationId xmlns:a16="http://schemas.microsoft.com/office/drawing/2014/main" id="{3B07B8ED-E19A-1485-1FD9-FE1C9733946B}"/>
              </a:ext>
            </a:extLst>
          </p:cNvPr>
          <p:cNvSpPr/>
          <p:nvPr/>
        </p:nvSpPr>
        <p:spPr>
          <a:xfrm>
            <a:off x="8624266" y="4020945"/>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Tree>
    <p:extLst>
      <p:ext uri="{BB962C8B-B14F-4D97-AF65-F5344CB8AC3E}">
        <p14:creationId xmlns:p14="http://schemas.microsoft.com/office/powerpoint/2010/main" val="2634177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7AE81C1E-A7C3-40CD-9C11-0C03A2221292}"/>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13</a:t>
            </a:fld>
            <a:endParaRPr lang="en-US" dirty="0"/>
          </a:p>
        </p:txBody>
      </p:sp>
      <p:sp>
        <p:nvSpPr>
          <p:cNvPr id="9" name="Text Placeholder 2">
            <a:extLst>
              <a:ext uri="{FF2B5EF4-FFF2-40B4-BE49-F238E27FC236}">
                <a16:creationId xmlns:a16="http://schemas.microsoft.com/office/drawing/2014/main" id="{4F0FDEFF-5AA0-753E-8236-950F71EBEE24}"/>
              </a:ext>
            </a:extLst>
          </p:cNvPr>
          <p:cNvSpPr txBox="1">
            <a:spLocks/>
          </p:cNvSpPr>
          <p:nvPr/>
        </p:nvSpPr>
        <p:spPr>
          <a:xfrm>
            <a:off x="3540125" y="1212658"/>
            <a:ext cx="5111750" cy="94243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800" dirty="0"/>
              <a:t>Your Lab: Simple Memory Allocation Scheme</a:t>
            </a:r>
          </a:p>
        </p:txBody>
      </p:sp>
      <p:sp>
        <p:nvSpPr>
          <p:cNvPr id="16" name="Text Placeholder 2">
            <a:extLst>
              <a:ext uri="{FF2B5EF4-FFF2-40B4-BE49-F238E27FC236}">
                <a16:creationId xmlns:a16="http://schemas.microsoft.com/office/drawing/2014/main" id="{B7DE2E9A-0126-5A0A-238C-453355728200}"/>
              </a:ext>
            </a:extLst>
          </p:cNvPr>
          <p:cNvSpPr>
            <a:spLocks noGrp="1"/>
          </p:cNvSpPr>
          <p:nvPr>
            <p:ph type="body" idx="1"/>
          </p:nvPr>
        </p:nvSpPr>
        <p:spPr>
          <a:xfrm>
            <a:off x="1755443" y="2720974"/>
            <a:ext cx="3924300" cy="823912"/>
          </a:xfrm>
        </p:spPr>
        <p:txBody>
          <a:bodyPr/>
          <a:lstStyle/>
          <a:p>
            <a:r>
              <a:rPr lang="en-US" dirty="0"/>
              <a:t>Some other things to know</a:t>
            </a:r>
          </a:p>
        </p:txBody>
      </p:sp>
      <p:sp>
        <p:nvSpPr>
          <p:cNvPr id="17" name="Content Placeholder 3">
            <a:extLst>
              <a:ext uri="{FF2B5EF4-FFF2-40B4-BE49-F238E27FC236}">
                <a16:creationId xmlns:a16="http://schemas.microsoft.com/office/drawing/2014/main" id="{B9D9774A-F6DE-CD6D-C4A2-E7A010719EEA}"/>
              </a:ext>
            </a:extLst>
          </p:cNvPr>
          <p:cNvSpPr>
            <a:spLocks noGrp="1"/>
          </p:cNvSpPr>
          <p:nvPr>
            <p:ph sz="half" idx="2"/>
          </p:nvPr>
        </p:nvSpPr>
        <p:spPr>
          <a:xfrm>
            <a:off x="1755442" y="3639407"/>
            <a:ext cx="4254121" cy="3116228"/>
          </a:xfrm>
        </p:spPr>
        <p:txBody>
          <a:bodyPr>
            <a:normAutofit/>
          </a:bodyPr>
          <a:lstStyle/>
          <a:p>
            <a:r>
              <a:rPr lang="en-US" dirty="0"/>
              <a:t>- Little endianness</a:t>
            </a:r>
          </a:p>
          <a:p>
            <a:r>
              <a:rPr lang="en-US" dirty="0"/>
              <a:t>- Byte addressability</a:t>
            </a:r>
          </a:p>
          <a:p>
            <a:r>
              <a:rPr lang="en-US"/>
              <a:t>- Alignment</a:t>
            </a:r>
            <a:endParaRPr lang="en-US" dirty="0"/>
          </a:p>
          <a:p>
            <a:endParaRPr lang="en-US" dirty="0"/>
          </a:p>
          <a:p>
            <a:r>
              <a:rPr lang="en-US" dirty="0"/>
              <a:t>Don’t need but may encounter:</a:t>
            </a:r>
          </a:p>
          <a:p>
            <a:r>
              <a:rPr lang="en-US" dirty="0"/>
              <a:t>- Virtual methods</a:t>
            </a:r>
          </a:p>
          <a:p>
            <a:r>
              <a:rPr lang="en-US" dirty="0"/>
              <a:t>- Initializer lists</a:t>
            </a:r>
          </a:p>
          <a:p>
            <a:endParaRPr lang="en-US" b="1" dirty="0"/>
          </a:p>
          <a:p>
            <a:endParaRPr lang="en-US" b="1" dirty="0"/>
          </a:p>
          <a:p>
            <a:endParaRPr lang="en-US" b="1"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213390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7AE81C1E-A7C3-40CD-9C11-0C03A2221292}"/>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14</a:t>
            </a:fld>
            <a:endParaRPr lang="en-US" dirty="0"/>
          </a:p>
        </p:txBody>
      </p:sp>
      <p:sp>
        <p:nvSpPr>
          <p:cNvPr id="9" name="Text Placeholder 2">
            <a:extLst>
              <a:ext uri="{FF2B5EF4-FFF2-40B4-BE49-F238E27FC236}">
                <a16:creationId xmlns:a16="http://schemas.microsoft.com/office/drawing/2014/main" id="{4F0FDEFF-5AA0-753E-8236-950F71EBEE24}"/>
              </a:ext>
            </a:extLst>
          </p:cNvPr>
          <p:cNvSpPr txBox="1">
            <a:spLocks/>
          </p:cNvSpPr>
          <p:nvPr/>
        </p:nvSpPr>
        <p:spPr>
          <a:xfrm>
            <a:off x="3540125" y="1212658"/>
            <a:ext cx="5111750" cy="94243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800" dirty="0"/>
              <a:t>Your Lab: Code Layout</a:t>
            </a:r>
          </a:p>
        </p:txBody>
      </p:sp>
      <p:sp>
        <p:nvSpPr>
          <p:cNvPr id="6" name="Rectangle 5">
            <a:extLst>
              <a:ext uri="{FF2B5EF4-FFF2-40B4-BE49-F238E27FC236}">
                <a16:creationId xmlns:a16="http://schemas.microsoft.com/office/drawing/2014/main" id="{739E6E18-F389-0FCF-B111-12DBFD5CBB33}"/>
              </a:ext>
            </a:extLst>
          </p:cNvPr>
          <p:cNvSpPr/>
          <p:nvPr/>
        </p:nvSpPr>
        <p:spPr>
          <a:xfrm>
            <a:off x="2206388" y="4801736"/>
            <a:ext cx="2893326" cy="1280616"/>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Heap.cpp</a:t>
            </a:r>
          </a:p>
          <a:p>
            <a:endParaRPr lang="en-US" dirty="0">
              <a:solidFill>
                <a:schemeClr val="tx1"/>
              </a:solidFill>
            </a:endParaRPr>
          </a:p>
          <a:p>
            <a:r>
              <a:rPr lang="en-US" sz="1400" dirty="0">
                <a:solidFill>
                  <a:schemeClr val="tx1"/>
                </a:solidFill>
              </a:rPr>
              <a:t>Done for you. Implements a memory sandbox</a:t>
            </a:r>
          </a:p>
        </p:txBody>
      </p:sp>
      <p:sp>
        <p:nvSpPr>
          <p:cNvPr id="7" name="Rectangle 6">
            <a:extLst>
              <a:ext uri="{FF2B5EF4-FFF2-40B4-BE49-F238E27FC236}">
                <a16:creationId xmlns:a16="http://schemas.microsoft.com/office/drawing/2014/main" id="{C612060C-B394-7D5D-B6C0-32BC31E249BA}"/>
              </a:ext>
            </a:extLst>
          </p:cNvPr>
          <p:cNvSpPr/>
          <p:nvPr/>
        </p:nvSpPr>
        <p:spPr>
          <a:xfrm>
            <a:off x="2206388" y="2422477"/>
            <a:ext cx="2893326" cy="1385248"/>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BaseMemoryController.cpp</a:t>
            </a:r>
          </a:p>
          <a:p>
            <a:endParaRPr lang="en-US" dirty="0">
              <a:solidFill>
                <a:schemeClr val="tx1"/>
              </a:solidFill>
            </a:endParaRPr>
          </a:p>
          <a:p>
            <a:r>
              <a:rPr lang="en-US" sz="1400" dirty="0">
                <a:solidFill>
                  <a:schemeClr val="tx1"/>
                </a:solidFill>
              </a:rPr>
              <a:t>General Memory Controller. You will need to implement some helper functions here.</a:t>
            </a:r>
          </a:p>
        </p:txBody>
      </p:sp>
      <p:sp>
        <p:nvSpPr>
          <p:cNvPr id="8" name="Rectangle 7">
            <a:extLst>
              <a:ext uri="{FF2B5EF4-FFF2-40B4-BE49-F238E27FC236}">
                <a16:creationId xmlns:a16="http://schemas.microsoft.com/office/drawing/2014/main" id="{C708B3BA-4E1C-D5DD-29E4-3367C329D5E6}"/>
              </a:ext>
            </a:extLst>
          </p:cNvPr>
          <p:cNvSpPr/>
          <p:nvPr/>
        </p:nvSpPr>
        <p:spPr>
          <a:xfrm>
            <a:off x="7550955" y="2327173"/>
            <a:ext cx="2893326" cy="1575855"/>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MyMemoryController.cpp</a:t>
            </a:r>
          </a:p>
          <a:p>
            <a:endParaRPr lang="en-US" dirty="0">
              <a:solidFill>
                <a:schemeClr val="tx1"/>
              </a:solidFill>
            </a:endParaRPr>
          </a:p>
          <a:p>
            <a:r>
              <a:rPr lang="en-US" sz="1400" dirty="0">
                <a:solidFill>
                  <a:schemeClr val="tx1"/>
                </a:solidFill>
              </a:rPr>
              <a:t>Simple Memory implementation discussed in previous slides. You will need to implement malloc(), free(), and </a:t>
            </a:r>
            <a:r>
              <a:rPr lang="en-US" sz="1400" dirty="0" err="1">
                <a:solidFill>
                  <a:schemeClr val="tx1"/>
                </a:solidFill>
              </a:rPr>
              <a:t>realloc</a:t>
            </a:r>
            <a:r>
              <a:rPr lang="en-US" sz="1400" dirty="0">
                <a:solidFill>
                  <a:schemeClr val="tx1"/>
                </a:solidFill>
              </a:rPr>
              <a:t>() here.</a:t>
            </a:r>
          </a:p>
        </p:txBody>
      </p:sp>
      <p:cxnSp>
        <p:nvCxnSpPr>
          <p:cNvPr id="12" name="Straight Arrow Connector 11">
            <a:extLst>
              <a:ext uri="{FF2B5EF4-FFF2-40B4-BE49-F238E27FC236}">
                <a16:creationId xmlns:a16="http://schemas.microsoft.com/office/drawing/2014/main" id="{10F76EB7-D3F9-6FD8-2DB9-AFEFA0477C80}"/>
              </a:ext>
            </a:extLst>
          </p:cNvPr>
          <p:cNvCxnSpPr>
            <a:stCxn id="7" idx="2"/>
            <a:endCxn id="6" idx="0"/>
          </p:cNvCxnSpPr>
          <p:nvPr/>
        </p:nvCxnSpPr>
        <p:spPr>
          <a:xfrm>
            <a:off x="3653051" y="3807725"/>
            <a:ext cx="0" cy="9940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10535A1-1B4E-3C5E-EC1C-D5B275C27E65}"/>
              </a:ext>
            </a:extLst>
          </p:cNvPr>
          <p:cNvSpPr txBox="1"/>
          <p:nvPr/>
        </p:nvSpPr>
        <p:spPr>
          <a:xfrm>
            <a:off x="3653051" y="4120064"/>
            <a:ext cx="800895" cy="369332"/>
          </a:xfrm>
          <a:prstGeom prst="rect">
            <a:avLst/>
          </a:prstGeom>
          <a:noFill/>
        </p:spPr>
        <p:txBody>
          <a:bodyPr wrap="square" rtlCol="0">
            <a:spAutoFit/>
          </a:bodyPr>
          <a:lstStyle/>
          <a:p>
            <a:r>
              <a:rPr lang="en-US" dirty="0"/>
              <a:t>has a</a:t>
            </a:r>
          </a:p>
        </p:txBody>
      </p:sp>
      <p:cxnSp>
        <p:nvCxnSpPr>
          <p:cNvPr id="15" name="Straight Arrow Connector 14">
            <a:extLst>
              <a:ext uri="{FF2B5EF4-FFF2-40B4-BE49-F238E27FC236}">
                <a16:creationId xmlns:a16="http://schemas.microsoft.com/office/drawing/2014/main" id="{CF7500F6-E4FC-E114-F7E4-00B765E0A21A}"/>
              </a:ext>
            </a:extLst>
          </p:cNvPr>
          <p:cNvCxnSpPr>
            <a:stCxn id="7" idx="3"/>
            <a:endCxn id="8" idx="1"/>
          </p:cNvCxnSpPr>
          <p:nvPr/>
        </p:nvCxnSpPr>
        <p:spPr>
          <a:xfrm>
            <a:off x="5099714" y="3115101"/>
            <a:ext cx="245124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0762543-33FB-CA58-08FE-2862BCA439F2}"/>
              </a:ext>
            </a:extLst>
          </p:cNvPr>
          <p:cNvSpPr txBox="1"/>
          <p:nvPr/>
        </p:nvSpPr>
        <p:spPr>
          <a:xfrm>
            <a:off x="5187619" y="2757436"/>
            <a:ext cx="2363336" cy="369332"/>
          </a:xfrm>
          <a:prstGeom prst="rect">
            <a:avLst/>
          </a:prstGeom>
          <a:noFill/>
        </p:spPr>
        <p:txBody>
          <a:bodyPr wrap="square" rtlCol="0">
            <a:spAutoFit/>
          </a:bodyPr>
          <a:lstStyle/>
          <a:p>
            <a:r>
              <a:rPr lang="en-US" dirty="0"/>
              <a:t>is the parent class of </a:t>
            </a:r>
          </a:p>
        </p:txBody>
      </p:sp>
    </p:spTree>
    <p:extLst>
      <p:ext uri="{BB962C8B-B14F-4D97-AF65-F5344CB8AC3E}">
        <p14:creationId xmlns:p14="http://schemas.microsoft.com/office/powerpoint/2010/main" val="272642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Optimization Idea</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Finding a free block</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2" y="3639407"/>
            <a:ext cx="4254121" cy="3116228"/>
          </a:xfrm>
        </p:spPr>
        <p:txBody>
          <a:bodyPr>
            <a:normAutofit/>
          </a:bodyPr>
          <a:lstStyle/>
          <a:p>
            <a:r>
              <a:rPr lang="en-US" dirty="0"/>
              <a:t>When we need to find a free block, we have to traverse the entire heap until we find one. Is there a way to skip over the allocated blocks?</a:t>
            </a:r>
          </a:p>
          <a:p>
            <a:endParaRPr lang="en-US" b="1" dirty="0"/>
          </a:p>
          <a:p>
            <a:r>
              <a:rPr lang="en-US" b="1" dirty="0"/>
              <a:t>Conclusion: “Link” (ed list) the free blocks together with more metadata</a:t>
            </a:r>
          </a:p>
          <a:p>
            <a:endParaRPr lang="en-US" b="1" dirty="0"/>
          </a:p>
          <a:p>
            <a:endParaRPr lang="en-US" dirty="0"/>
          </a:p>
          <a:p>
            <a:endParaRPr lang="en-US" b="1" dirty="0"/>
          </a:p>
          <a:p>
            <a:endParaRPr lang="en-US" b="1" dirty="0"/>
          </a:p>
          <a:p>
            <a:endParaRPr lang="en-US" b="1" dirty="0"/>
          </a:p>
          <a:p>
            <a:endParaRPr lang="en-US" dirty="0"/>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15</a:t>
            </a:fld>
            <a:endParaRPr lang="en-US" dirty="0"/>
          </a:p>
        </p:txBody>
      </p:sp>
      <p:sp>
        <p:nvSpPr>
          <p:cNvPr id="7" name="Rectangle 6">
            <a:extLst>
              <a:ext uri="{FF2B5EF4-FFF2-40B4-BE49-F238E27FC236}">
                <a16:creationId xmlns:a16="http://schemas.microsoft.com/office/drawing/2014/main" id="{39180991-FFBA-47E3-D893-227020271193}"/>
              </a:ext>
            </a:extLst>
          </p:cNvPr>
          <p:cNvSpPr/>
          <p:nvPr/>
        </p:nvSpPr>
        <p:spPr>
          <a:xfrm>
            <a:off x="8610600" y="2720974"/>
            <a:ext cx="1634319" cy="2914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30B66DC-0CE0-EE6F-4FA9-388087529938}"/>
              </a:ext>
            </a:extLst>
          </p:cNvPr>
          <p:cNvSpPr/>
          <p:nvPr/>
        </p:nvSpPr>
        <p:spPr>
          <a:xfrm>
            <a:off x="8615137" y="2899844"/>
            <a:ext cx="1634319" cy="378940"/>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malloc(8)</a:t>
            </a:r>
          </a:p>
        </p:txBody>
      </p:sp>
      <p:sp>
        <p:nvSpPr>
          <p:cNvPr id="10" name="Rectangle 9">
            <a:extLst>
              <a:ext uri="{FF2B5EF4-FFF2-40B4-BE49-F238E27FC236}">
                <a16:creationId xmlns:a16="http://schemas.microsoft.com/office/drawing/2014/main" id="{ED0938DA-BA85-FFDA-FBE5-33D5BCB67521}"/>
              </a:ext>
            </a:extLst>
          </p:cNvPr>
          <p:cNvSpPr/>
          <p:nvPr/>
        </p:nvSpPr>
        <p:spPr>
          <a:xfrm>
            <a:off x="8617433" y="4381084"/>
            <a:ext cx="1634319" cy="17855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malloc(4)</a:t>
            </a:r>
          </a:p>
        </p:txBody>
      </p:sp>
      <p:sp>
        <p:nvSpPr>
          <p:cNvPr id="11" name="Rectangle 10">
            <a:extLst>
              <a:ext uri="{FF2B5EF4-FFF2-40B4-BE49-F238E27FC236}">
                <a16:creationId xmlns:a16="http://schemas.microsoft.com/office/drawing/2014/main" id="{DEBBEA48-9A8E-5CB5-A46F-4FE07D252F01}"/>
              </a:ext>
            </a:extLst>
          </p:cNvPr>
          <p:cNvSpPr/>
          <p:nvPr/>
        </p:nvSpPr>
        <p:spPr>
          <a:xfrm>
            <a:off x="8617433" y="4202526"/>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12" name="Rectangle 11">
            <a:extLst>
              <a:ext uri="{FF2B5EF4-FFF2-40B4-BE49-F238E27FC236}">
                <a16:creationId xmlns:a16="http://schemas.microsoft.com/office/drawing/2014/main" id="{FBA7842A-FDE3-B14D-76C2-5D69F3E0E227}"/>
              </a:ext>
            </a:extLst>
          </p:cNvPr>
          <p:cNvSpPr/>
          <p:nvPr/>
        </p:nvSpPr>
        <p:spPr>
          <a:xfrm>
            <a:off x="8615723" y="3266329"/>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13" name="Rectangle 12">
            <a:extLst>
              <a:ext uri="{FF2B5EF4-FFF2-40B4-BE49-F238E27FC236}">
                <a16:creationId xmlns:a16="http://schemas.microsoft.com/office/drawing/2014/main" id="{362A0CAF-BDD6-CD61-46EC-1F5341439BC5}"/>
              </a:ext>
            </a:extLst>
          </p:cNvPr>
          <p:cNvSpPr/>
          <p:nvPr/>
        </p:nvSpPr>
        <p:spPr>
          <a:xfrm>
            <a:off x="8612868" y="2720974"/>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 bytes</a:t>
            </a:r>
          </a:p>
        </p:txBody>
      </p:sp>
      <p:sp>
        <p:nvSpPr>
          <p:cNvPr id="14" name="Rectangle 13">
            <a:extLst>
              <a:ext uri="{FF2B5EF4-FFF2-40B4-BE49-F238E27FC236}">
                <a16:creationId xmlns:a16="http://schemas.microsoft.com/office/drawing/2014/main" id="{120ADC6F-ECDA-24FB-04BA-7E2E18829068}"/>
              </a:ext>
            </a:extLst>
          </p:cNvPr>
          <p:cNvSpPr/>
          <p:nvPr/>
        </p:nvSpPr>
        <p:spPr>
          <a:xfrm>
            <a:off x="8617432" y="4730679"/>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bytes</a:t>
            </a:r>
          </a:p>
        </p:txBody>
      </p:sp>
      <p:sp>
        <p:nvSpPr>
          <p:cNvPr id="15" name="Rectangle 14">
            <a:extLst>
              <a:ext uri="{FF2B5EF4-FFF2-40B4-BE49-F238E27FC236}">
                <a16:creationId xmlns:a16="http://schemas.microsoft.com/office/drawing/2014/main" id="{60FB92EE-3C97-5A8D-C4F2-87AFF8303EC9}"/>
              </a:ext>
            </a:extLst>
          </p:cNvPr>
          <p:cNvSpPr/>
          <p:nvPr/>
        </p:nvSpPr>
        <p:spPr>
          <a:xfrm>
            <a:off x="8610599" y="5456628"/>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 bytes</a:t>
            </a:r>
          </a:p>
        </p:txBody>
      </p:sp>
      <p:sp>
        <p:nvSpPr>
          <p:cNvPr id="16" name="Rectangle 15">
            <a:extLst>
              <a:ext uri="{FF2B5EF4-FFF2-40B4-BE49-F238E27FC236}">
                <a16:creationId xmlns:a16="http://schemas.microsoft.com/office/drawing/2014/main" id="{C8DA397D-9297-A644-F661-CAA5358E2455}"/>
              </a:ext>
            </a:extLst>
          </p:cNvPr>
          <p:cNvSpPr/>
          <p:nvPr/>
        </p:nvSpPr>
        <p:spPr>
          <a:xfrm>
            <a:off x="8617432" y="455515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 bytes</a:t>
            </a:r>
          </a:p>
        </p:txBody>
      </p:sp>
      <p:sp>
        <p:nvSpPr>
          <p:cNvPr id="18" name="Rectangle 17">
            <a:extLst>
              <a:ext uri="{FF2B5EF4-FFF2-40B4-BE49-F238E27FC236}">
                <a16:creationId xmlns:a16="http://schemas.microsoft.com/office/drawing/2014/main" id="{DD65548F-3AFF-0B1D-0625-DEF08F315F16}"/>
              </a:ext>
            </a:extLst>
          </p:cNvPr>
          <p:cNvSpPr/>
          <p:nvPr/>
        </p:nvSpPr>
        <p:spPr>
          <a:xfrm>
            <a:off x="8620845" y="3446923"/>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sp>
        <p:nvSpPr>
          <p:cNvPr id="26" name="Rectangle 25">
            <a:extLst>
              <a:ext uri="{FF2B5EF4-FFF2-40B4-BE49-F238E27FC236}">
                <a16:creationId xmlns:a16="http://schemas.microsoft.com/office/drawing/2014/main" id="{7468578C-A742-0A8B-0E4D-0B17F2B1E9FD}"/>
              </a:ext>
            </a:extLst>
          </p:cNvPr>
          <p:cNvSpPr/>
          <p:nvPr/>
        </p:nvSpPr>
        <p:spPr>
          <a:xfrm>
            <a:off x="8624266" y="4020945"/>
            <a:ext cx="1634319" cy="17855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 bytes</a:t>
            </a:r>
          </a:p>
        </p:txBody>
      </p:sp>
      <p:cxnSp>
        <p:nvCxnSpPr>
          <p:cNvPr id="28" name="Connector: Curved 27">
            <a:extLst>
              <a:ext uri="{FF2B5EF4-FFF2-40B4-BE49-F238E27FC236}">
                <a16:creationId xmlns:a16="http://schemas.microsoft.com/office/drawing/2014/main" id="{11FDAA9C-F4BC-7750-8B8F-C6D2204AA4D8}"/>
              </a:ext>
            </a:extLst>
          </p:cNvPr>
          <p:cNvCxnSpPr>
            <a:cxnSpLocks/>
            <a:stCxn id="13" idx="1"/>
            <a:endCxn id="18" idx="1"/>
          </p:cNvCxnSpPr>
          <p:nvPr/>
        </p:nvCxnSpPr>
        <p:spPr>
          <a:xfrm rot="10800000" flipH="1" flipV="1">
            <a:off x="8612867" y="2810252"/>
            <a:ext cx="7977" cy="725949"/>
          </a:xfrm>
          <a:prstGeom prst="curvedConnector3">
            <a:avLst>
              <a:gd name="adj1" fmla="val -28657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Curved 29">
            <a:extLst>
              <a:ext uri="{FF2B5EF4-FFF2-40B4-BE49-F238E27FC236}">
                <a16:creationId xmlns:a16="http://schemas.microsoft.com/office/drawing/2014/main" id="{1829FF68-4E09-CC91-B8E5-9CD49D9120C4}"/>
              </a:ext>
            </a:extLst>
          </p:cNvPr>
          <p:cNvCxnSpPr>
            <a:cxnSpLocks/>
          </p:cNvCxnSpPr>
          <p:nvPr/>
        </p:nvCxnSpPr>
        <p:spPr>
          <a:xfrm rot="10800000" flipH="1" flipV="1">
            <a:off x="8610599" y="3559974"/>
            <a:ext cx="7977" cy="725949"/>
          </a:xfrm>
          <a:prstGeom prst="curvedConnector3">
            <a:avLst>
              <a:gd name="adj1" fmla="val -286573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ACB167AC-9BD8-ADE4-4369-4E22A7B89FDA}"/>
              </a:ext>
            </a:extLst>
          </p:cNvPr>
          <p:cNvCxnSpPr>
            <a:cxnSpLocks/>
            <a:endCxn id="14" idx="1"/>
          </p:cNvCxnSpPr>
          <p:nvPr/>
        </p:nvCxnSpPr>
        <p:spPr>
          <a:xfrm rot="5400000">
            <a:off x="8367681" y="4567363"/>
            <a:ext cx="502346" cy="2844"/>
          </a:xfrm>
          <a:prstGeom prst="curvedConnector4">
            <a:avLst>
              <a:gd name="adj1" fmla="val 362"/>
              <a:gd name="adj2" fmla="val 813797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BC8E9D1-139D-75B7-F322-202ED76548C5}"/>
              </a:ext>
            </a:extLst>
          </p:cNvPr>
          <p:cNvSpPr txBox="1"/>
          <p:nvPr/>
        </p:nvSpPr>
        <p:spPr>
          <a:xfrm>
            <a:off x="7513033" y="2640975"/>
            <a:ext cx="894412" cy="338554"/>
          </a:xfrm>
          <a:prstGeom prst="rect">
            <a:avLst/>
          </a:prstGeom>
          <a:noFill/>
        </p:spPr>
        <p:txBody>
          <a:bodyPr wrap="none" rtlCol="0">
            <a:spAutoFit/>
          </a:bodyPr>
          <a:lstStyle/>
          <a:p>
            <a:r>
              <a:rPr lang="en-US" sz="1600" dirty="0">
                <a:solidFill>
                  <a:srgbClr val="898989"/>
                </a:solidFill>
              </a:rPr>
              <a:t>Not free</a:t>
            </a:r>
          </a:p>
        </p:txBody>
      </p:sp>
      <p:sp>
        <p:nvSpPr>
          <p:cNvPr id="35" name="TextBox 34">
            <a:extLst>
              <a:ext uri="{FF2B5EF4-FFF2-40B4-BE49-F238E27FC236}">
                <a16:creationId xmlns:a16="http://schemas.microsoft.com/office/drawing/2014/main" id="{1128C4D9-487E-2750-9C11-7513EF9138F0}"/>
              </a:ext>
            </a:extLst>
          </p:cNvPr>
          <p:cNvSpPr txBox="1"/>
          <p:nvPr/>
        </p:nvSpPr>
        <p:spPr>
          <a:xfrm>
            <a:off x="7445354" y="3355608"/>
            <a:ext cx="1029769" cy="584775"/>
          </a:xfrm>
          <a:prstGeom prst="rect">
            <a:avLst/>
          </a:prstGeom>
          <a:noFill/>
        </p:spPr>
        <p:txBody>
          <a:bodyPr wrap="none" rtlCol="0">
            <a:spAutoFit/>
          </a:bodyPr>
          <a:lstStyle/>
          <a:p>
            <a:r>
              <a:rPr lang="en-US" sz="1600" dirty="0">
                <a:solidFill>
                  <a:srgbClr val="898989"/>
                </a:solidFill>
              </a:rPr>
              <a:t>Too small</a:t>
            </a:r>
          </a:p>
          <a:p>
            <a:endParaRPr lang="en-US" sz="1600" dirty="0">
              <a:solidFill>
                <a:srgbClr val="898989"/>
              </a:solidFill>
            </a:endParaRPr>
          </a:p>
        </p:txBody>
      </p:sp>
      <p:sp>
        <p:nvSpPr>
          <p:cNvPr id="36" name="TextBox 35">
            <a:extLst>
              <a:ext uri="{FF2B5EF4-FFF2-40B4-BE49-F238E27FC236}">
                <a16:creationId xmlns:a16="http://schemas.microsoft.com/office/drawing/2014/main" id="{B4408B01-E92B-B9E9-5361-EDD6BCF57F94}"/>
              </a:ext>
            </a:extLst>
          </p:cNvPr>
          <p:cNvSpPr txBox="1"/>
          <p:nvPr/>
        </p:nvSpPr>
        <p:spPr>
          <a:xfrm>
            <a:off x="7526544" y="4111661"/>
            <a:ext cx="894412" cy="338554"/>
          </a:xfrm>
          <a:prstGeom prst="rect">
            <a:avLst/>
          </a:prstGeom>
          <a:noFill/>
        </p:spPr>
        <p:txBody>
          <a:bodyPr wrap="none" rtlCol="0">
            <a:spAutoFit/>
          </a:bodyPr>
          <a:lstStyle/>
          <a:p>
            <a:r>
              <a:rPr lang="en-US" sz="1600" dirty="0">
                <a:solidFill>
                  <a:srgbClr val="898989"/>
                </a:solidFill>
              </a:rPr>
              <a:t>Not free</a:t>
            </a:r>
          </a:p>
        </p:txBody>
      </p:sp>
      <p:sp>
        <p:nvSpPr>
          <p:cNvPr id="37" name="TextBox 36">
            <a:extLst>
              <a:ext uri="{FF2B5EF4-FFF2-40B4-BE49-F238E27FC236}">
                <a16:creationId xmlns:a16="http://schemas.microsoft.com/office/drawing/2014/main" id="{B32A4124-AF47-757F-CC37-00292E87096A}"/>
              </a:ext>
            </a:extLst>
          </p:cNvPr>
          <p:cNvSpPr txBox="1"/>
          <p:nvPr/>
        </p:nvSpPr>
        <p:spPr>
          <a:xfrm>
            <a:off x="7591273" y="4621493"/>
            <a:ext cx="764953" cy="338554"/>
          </a:xfrm>
          <a:prstGeom prst="rect">
            <a:avLst/>
          </a:prstGeom>
          <a:noFill/>
        </p:spPr>
        <p:txBody>
          <a:bodyPr wrap="none" rtlCol="0">
            <a:spAutoFit/>
          </a:bodyPr>
          <a:lstStyle/>
          <a:p>
            <a:r>
              <a:rPr lang="en-US" sz="1600" dirty="0">
                <a:solidFill>
                  <a:srgbClr val="898989"/>
                </a:solidFill>
              </a:rPr>
              <a:t>Finally</a:t>
            </a:r>
          </a:p>
        </p:txBody>
      </p:sp>
    </p:spTree>
    <p:extLst>
      <p:ext uri="{BB962C8B-B14F-4D97-AF65-F5344CB8AC3E}">
        <p14:creationId xmlns:p14="http://schemas.microsoft.com/office/powerpoint/2010/main" val="872181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Optimization Idea</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1755443" y="2720974"/>
            <a:ext cx="3924300" cy="823912"/>
          </a:xfrm>
        </p:spPr>
        <p:txBody>
          <a:bodyPr/>
          <a:lstStyle/>
          <a:p>
            <a:r>
              <a:rPr lang="en-US" dirty="0"/>
              <a:t>Finding a free block</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1755442" y="3639407"/>
            <a:ext cx="4254121" cy="3116228"/>
          </a:xfrm>
        </p:spPr>
        <p:txBody>
          <a:bodyPr>
            <a:normAutofit/>
          </a:bodyPr>
          <a:lstStyle/>
          <a:p>
            <a:r>
              <a:rPr lang="en-US" dirty="0"/>
              <a:t>When we need to find a free block, we have to traverse the entire heap until we find one. Is there a way to skip over the allocated blocks?</a:t>
            </a:r>
          </a:p>
          <a:p>
            <a:endParaRPr lang="en-US" b="1" dirty="0"/>
          </a:p>
          <a:p>
            <a:r>
              <a:rPr lang="en-US" b="1" dirty="0"/>
              <a:t>Conclusion: “Link” (ed list) the free blocks together with more metadata</a:t>
            </a:r>
          </a:p>
          <a:p>
            <a:endParaRPr lang="en-US" b="1" dirty="0"/>
          </a:p>
          <a:p>
            <a:r>
              <a:rPr lang="en-US" dirty="0"/>
              <a:t>Bonus thought: How do we make it faster searching for large sizes like 4000?</a:t>
            </a:r>
          </a:p>
          <a:p>
            <a:endParaRPr lang="en-US" b="1" dirty="0"/>
          </a:p>
          <a:p>
            <a:endParaRPr lang="en-US" dirty="0"/>
          </a:p>
          <a:p>
            <a:endParaRPr lang="en-US" dirty="0"/>
          </a:p>
          <a:p>
            <a:endParaRPr lang="en-US" b="1" dirty="0"/>
          </a:p>
          <a:p>
            <a:endParaRPr lang="en-US" b="1" dirty="0"/>
          </a:p>
          <a:p>
            <a:endParaRPr lang="en-US" b="1" dirty="0"/>
          </a:p>
          <a:p>
            <a:endParaRPr lang="en-US" dirty="0"/>
          </a:p>
          <a:p>
            <a:endParaRPr lang="en-US" dirty="0"/>
          </a:p>
          <a:p>
            <a:endParaRPr lang="en-US" dirty="0"/>
          </a:p>
          <a:p>
            <a:endParaRPr lang="en-US" dirty="0"/>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16</a:t>
            </a:fld>
            <a:endParaRPr lang="en-US" dirty="0"/>
          </a:p>
        </p:txBody>
      </p:sp>
      <p:sp>
        <p:nvSpPr>
          <p:cNvPr id="5" name="Rectangle 4">
            <a:extLst>
              <a:ext uri="{FF2B5EF4-FFF2-40B4-BE49-F238E27FC236}">
                <a16:creationId xmlns:a16="http://schemas.microsoft.com/office/drawing/2014/main" id="{EB39364B-47CE-AB15-39DF-51596CFAE293}"/>
              </a:ext>
            </a:extLst>
          </p:cNvPr>
          <p:cNvSpPr/>
          <p:nvPr/>
        </p:nvSpPr>
        <p:spPr>
          <a:xfrm>
            <a:off x="8648132" y="921726"/>
            <a:ext cx="1146412" cy="109182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err="1">
                <a:solidFill>
                  <a:schemeClr val="tx1"/>
                </a:solidFill>
              </a:rPr>
              <a:t>Addr</a:t>
            </a:r>
            <a:r>
              <a:rPr lang="en-US" sz="1400" dirty="0">
                <a:solidFill>
                  <a:schemeClr val="tx1"/>
                </a:solidFill>
              </a:rPr>
              <a:t>: x2000</a:t>
            </a:r>
          </a:p>
          <a:p>
            <a:r>
              <a:rPr lang="en-US" sz="1400" dirty="0">
                <a:solidFill>
                  <a:schemeClr val="tx1"/>
                </a:solidFill>
              </a:rPr>
              <a:t>Size: 20</a:t>
            </a:r>
          </a:p>
          <a:p>
            <a:r>
              <a:rPr lang="en-US" sz="1400" dirty="0">
                <a:solidFill>
                  <a:schemeClr val="tx1"/>
                </a:solidFill>
              </a:rPr>
              <a:t>Next: x2050</a:t>
            </a:r>
          </a:p>
        </p:txBody>
      </p:sp>
      <p:sp>
        <p:nvSpPr>
          <p:cNvPr id="6" name="Rectangle 5">
            <a:extLst>
              <a:ext uri="{FF2B5EF4-FFF2-40B4-BE49-F238E27FC236}">
                <a16:creationId xmlns:a16="http://schemas.microsoft.com/office/drawing/2014/main" id="{4CF353A1-79A2-122F-E3D1-C85B8EB50138}"/>
              </a:ext>
            </a:extLst>
          </p:cNvPr>
          <p:cNvSpPr/>
          <p:nvPr/>
        </p:nvSpPr>
        <p:spPr>
          <a:xfrm>
            <a:off x="10303491" y="2382663"/>
            <a:ext cx="1146412" cy="109182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err="1">
                <a:solidFill>
                  <a:schemeClr val="tx1"/>
                </a:solidFill>
              </a:rPr>
              <a:t>Addr</a:t>
            </a:r>
            <a:r>
              <a:rPr lang="en-US" sz="1400" dirty="0">
                <a:solidFill>
                  <a:schemeClr val="tx1"/>
                </a:solidFill>
              </a:rPr>
              <a:t>: x2050</a:t>
            </a:r>
          </a:p>
          <a:p>
            <a:r>
              <a:rPr lang="en-US" sz="1400" dirty="0">
                <a:solidFill>
                  <a:schemeClr val="tx1"/>
                </a:solidFill>
              </a:rPr>
              <a:t>Size: 50</a:t>
            </a:r>
          </a:p>
          <a:p>
            <a:r>
              <a:rPr lang="en-US" sz="1400" dirty="0">
                <a:solidFill>
                  <a:schemeClr val="tx1"/>
                </a:solidFill>
              </a:rPr>
              <a:t>Next: x21A0</a:t>
            </a:r>
          </a:p>
        </p:txBody>
      </p:sp>
      <p:sp>
        <p:nvSpPr>
          <p:cNvPr id="17" name="Rectangle 16">
            <a:extLst>
              <a:ext uri="{FF2B5EF4-FFF2-40B4-BE49-F238E27FC236}">
                <a16:creationId xmlns:a16="http://schemas.microsoft.com/office/drawing/2014/main" id="{8A2D14A7-3E4C-B8CE-1AE0-E5CC12069867}"/>
              </a:ext>
            </a:extLst>
          </p:cNvPr>
          <p:cNvSpPr/>
          <p:nvPr/>
        </p:nvSpPr>
        <p:spPr>
          <a:xfrm>
            <a:off x="9794544" y="4484439"/>
            <a:ext cx="1146412" cy="109182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err="1">
                <a:solidFill>
                  <a:schemeClr val="tx1"/>
                </a:solidFill>
              </a:rPr>
              <a:t>Addr</a:t>
            </a:r>
            <a:r>
              <a:rPr lang="en-US" sz="1400" dirty="0">
                <a:solidFill>
                  <a:schemeClr val="tx1"/>
                </a:solidFill>
              </a:rPr>
              <a:t>: x21A0</a:t>
            </a:r>
          </a:p>
          <a:p>
            <a:r>
              <a:rPr lang="en-US" sz="1400" dirty="0">
                <a:solidFill>
                  <a:schemeClr val="tx1"/>
                </a:solidFill>
              </a:rPr>
              <a:t>Size: 4</a:t>
            </a:r>
          </a:p>
          <a:p>
            <a:r>
              <a:rPr lang="en-US" sz="1400" dirty="0">
                <a:solidFill>
                  <a:schemeClr val="tx1"/>
                </a:solidFill>
              </a:rPr>
              <a:t>Next: x22E0</a:t>
            </a:r>
          </a:p>
        </p:txBody>
      </p:sp>
      <p:sp>
        <p:nvSpPr>
          <p:cNvPr id="19" name="Rectangle 18">
            <a:extLst>
              <a:ext uri="{FF2B5EF4-FFF2-40B4-BE49-F238E27FC236}">
                <a16:creationId xmlns:a16="http://schemas.microsoft.com/office/drawing/2014/main" id="{0CD3262E-B3ED-712B-D197-6A596C6D631C}"/>
              </a:ext>
            </a:extLst>
          </p:cNvPr>
          <p:cNvSpPr/>
          <p:nvPr/>
        </p:nvSpPr>
        <p:spPr>
          <a:xfrm>
            <a:off x="7144544" y="4430995"/>
            <a:ext cx="1146412" cy="109182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err="1">
                <a:solidFill>
                  <a:schemeClr val="tx1"/>
                </a:solidFill>
              </a:rPr>
              <a:t>Addr</a:t>
            </a:r>
            <a:r>
              <a:rPr lang="en-US" sz="1400" dirty="0">
                <a:solidFill>
                  <a:schemeClr val="tx1"/>
                </a:solidFill>
              </a:rPr>
              <a:t>: x22E0</a:t>
            </a:r>
          </a:p>
          <a:p>
            <a:r>
              <a:rPr lang="en-US" sz="1400" dirty="0">
                <a:solidFill>
                  <a:schemeClr val="tx1"/>
                </a:solidFill>
              </a:rPr>
              <a:t>Size: 200</a:t>
            </a:r>
          </a:p>
          <a:p>
            <a:r>
              <a:rPr lang="en-US" sz="1400" dirty="0">
                <a:solidFill>
                  <a:schemeClr val="tx1"/>
                </a:solidFill>
              </a:rPr>
              <a:t>Next: x281C</a:t>
            </a:r>
          </a:p>
        </p:txBody>
      </p:sp>
      <p:sp>
        <p:nvSpPr>
          <p:cNvPr id="20" name="Rectangle 19">
            <a:extLst>
              <a:ext uri="{FF2B5EF4-FFF2-40B4-BE49-F238E27FC236}">
                <a16:creationId xmlns:a16="http://schemas.microsoft.com/office/drawing/2014/main" id="{FBFD8C21-3D71-D6A4-E884-A568A2474394}"/>
              </a:ext>
            </a:extLst>
          </p:cNvPr>
          <p:cNvSpPr/>
          <p:nvPr/>
        </p:nvSpPr>
        <p:spPr>
          <a:xfrm>
            <a:off x="7030873" y="2382662"/>
            <a:ext cx="1146412" cy="1091821"/>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err="1">
                <a:solidFill>
                  <a:schemeClr val="tx1"/>
                </a:solidFill>
              </a:rPr>
              <a:t>Addr</a:t>
            </a:r>
            <a:r>
              <a:rPr lang="en-US" sz="1400" dirty="0">
                <a:solidFill>
                  <a:schemeClr val="tx1"/>
                </a:solidFill>
              </a:rPr>
              <a:t>: x281C</a:t>
            </a:r>
          </a:p>
          <a:p>
            <a:r>
              <a:rPr lang="en-US" sz="1400" dirty="0">
                <a:solidFill>
                  <a:schemeClr val="tx1"/>
                </a:solidFill>
              </a:rPr>
              <a:t>Size: 4000</a:t>
            </a:r>
          </a:p>
          <a:p>
            <a:r>
              <a:rPr lang="en-US" sz="1400" dirty="0">
                <a:solidFill>
                  <a:schemeClr val="tx1"/>
                </a:solidFill>
              </a:rPr>
              <a:t>Next: x2000</a:t>
            </a:r>
          </a:p>
        </p:txBody>
      </p:sp>
      <p:cxnSp>
        <p:nvCxnSpPr>
          <p:cNvPr id="22" name="Connector: Curved 21">
            <a:extLst>
              <a:ext uri="{FF2B5EF4-FFF2-40B4-BE49-F238E27FC236}">
                <a16:creationId xmlns:a16="http://schemas.microsoft.com/office/drawing/2014/main" id="{EB7F9010-0336-E1FD-7BC0-88FD5BCB017B}"/>
              </a:ext>
            </a:extLst>
          </p:cNvPr>
          <p:cNvCxnSpPr>
            <a:cxnSpLocks/>
            <a:stCxn id="5" idx="3"/>
            <a:endCxn id="6" idx="0"/>
          </p:cNvCxnSpPr>
          <p:nvPr/>
        </p:nvCxnSpPr>
        <p:spPr>
          <a:xfrm>
            <a:off x="9794544" y="1467637"/>
            <a:ext cx="1082153" cy="915026"/>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8525CC92-734F-E57F-06F5-6DB303324736}"/>
              </a:ext>
            </a:extLst>
          </p:cNvPr>
          <p:cNvCxnSpPr>
            <a:cxnSpLocks/>
            <a:stCxn id="6" idx="3"/>
            <a:endCxn id="17" idx="3"/>
          </p:cNvCxnSpPr>
          <p:nvPr/>
        </p:nvCxnSpPr>
        <p:spPr>
          <a:xfrm flipH="1">
            <a:off x="10940956" y="2928574"/>
            <a:ext cx="508947" cy="2101776"/>
          </a:xfrm>
          <a:prstGeom prst="curvedConnector3">
            <a:avLst>
              <a:gd name="adj1" fmla="val -4491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F45B26E7-E884-9D47-B8F3-455454F999F0}"/>
              </a:ext>
            </a:extLst>
          </p:cNvPr>
          <p:cNvCxnSpPr>
            <a:stCxn id="17" idx="2"/>
            <a:endCxn id="19" idx="2"/>
          </p:cNvCxnSpPr>
          <p:nvPr/>
        </p:nvCxnSpPr>
        <p:spPr>
          <a:xfrm rot="5400000" flipH="1">
            <a:off x="9016028" y="4224538"/>
            <a:ext cx="53444" cy="2650000"/>
          </a:xfrm>
          <a:prstGeom prst="curvedConnector3">
            <a:avLst>
              <a:gd name="adj1" fmla="val -42773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8A014830-FD83-CBC5-EAB5-09FBC69D9904}"/>
              </a:ext>
            </a:extLst>
          </p:cNvPr>
          <p:cNvCxnSpPr>
            <a:stCxn id="19" idx="1"/>
            <a:endCxn id="20" idx="1"/>
          </p:cNvCxnSpPr>
          <p:nvPr/>
        </p:nvCxnSpPr>
        <p:spPr>
          <a:xfrm rot="10800000">
            <a:off x="7030874" y="2928574"/>
            <a:ext cx="113671" cy="2048333"/>
          </a:xfrm>
          <a:prstGeom prst="curvedConnector3">
            <a:avLst>
              <a:gd name="adj1" fmla="val 3011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Curved 45">
            <a:extLst>
              <a:ext uri="{FF2B5EF4-FFF2-40B4-BE49-F238E27FC236}">
                <a16:creationId xmlns:a16="http://schemas.microsoft.com/office/drawing/2014/main" id="{1D17CBD3-2412-7D5D-2AFA-BA3297811691}"/>
              </a:ext>
            </a:extLst>
          </p:cNvPr>
          <p:cNvCxnSpPr>
            <a:stCxn id="20" idx="0"/>
            <a:endCxn id="5" idx="1"/>
          </p:cNvCxnSpPr>
          <p:nvPr/>
        </p:nvCxnSpPr>
        <p:spPr>
          <a:xfrm rot="5400000" flipH="1" flipV="1">
            <a:off x="7668593" y="1403124"/>
            <a:ext cx="915025" cy="1044053"/>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Footer Placeholder 4">
            <a:extLst>
              <a:ext uri="{FF2B5EF4-FFF2-40B4-BE49-F238E27FC236}">
                <a16:creationId xmlns:a16="http://schemas.microsoft.com/office/drawing/2014/main" id="{F822E166-B83E-33DB-94C6-8BBDE952F4E6}"/>
              </a:ext>
            </a:extLst>
          </p:cNvPr>
          <p:cNvSpPr>
            <a:spLocks noGrp="1"/>
          </p:cNvSpPr>
          <p:nvPr>
            <p:ph type="ftr" sz="quarter" idx="11"/>
          </p:nvPr>
        </p:nvSpPr>
        <p:spPr>
          <a:xfrm>
            <a:off x="1722460" y="6232998"/>
            <a:ext cx="3990265" cy="611827"/>
          </a:xfrm>
        </p:spPr>
        <p:txBody>
          <a:bodyPr/>
          <a:lstStyle/>
          <a:p>
            <a:pPr algn="l"/>
            <a:r>
              <a:rPr lang="en-US" sz="1200" dirty="0"/>
              <a:t>* Note: you will NOT be implementing this optimization in your lab</a:t>
            </a:r>
          </a:p>
        </p:txBody>
      </p:sp>
    </p:spTree>
    <p:extLst>
      <p:ext uri="{BB962C8B-B14F-4D97-AF65-F5344CB8AC3E}">
        <p14:creationId xmlns:p14="http://schemas.microsoft.com/office/powerpoint/2010/main" val="927085743"/>
      </p:ext>
    </p:extLst>
  </p:cSld>
  <p:clrMapOvr>
    <a:masterClrMapping/>
  </p:clrMapOvr>
</p:sld>
</file>

<file path=ppt/theme/theme1.xml><?xml version="1.0" encoding="utf-8"?>
<a:theme xmlns:a="http://schemas.openxmlformats.org/drawingml/2006/main" name="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 id="{11346FDE-2DA4-453A-ACF7-41117CE5C235}" vid="{A628C74B-DC45-4C37-9A15-B37206CA45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C7F809-A434-4A8D-A127-1C50C2DB389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D5826B4-4DD2-4A9B-8D6D-E91CF9C2316C}">
  <ds:schemaRefs>
    <ds:schemaRef ds:uri="http://schemas.microsoft.com/sharepoint/v3/contenttype/forms"/>
  </ds:schemaRefs>
</ds:datastoreItem>
</file>

<file path=customXml/itemProps3.xml><?xml version="1.0" encoding="utf-8"?>
<ds:datastoreItem xmlns:ds="http://schemas.openxmlformats.org/officeDocument/2006/customXml" ds:itemID="{00E6EE1E-660B-46C6-AC21-8E505FB957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{E2E2594C-2267-4094-92FC-7E4B27C1F6E8}tf67328976_win32</Template>
  <TotalTime>1210</TotalTime>
  <Words>1365</Words>
  <Application>Microsoft Office PowerPoint</Application>
  <PresentationFormat>Widescreen</PresentationFormat>
  <Paragraphs>282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Proxima Bold</vt:lpstr>
      <vt:lpstr>Arial</vt:lpstr>
      <vt:lpstr>Calibri</vt:lpstr>
      <vt:lpstr>Tenorite</vt:lpstr>
      <vt:lpstr>Office Theme</vt:lpstr>
      <vt:lpstr>Malloc Lab</vt:lpstr>
      <vt:lpstr>Interface</vt:lpstr>
      <vt:lpstr>PowerPoint Presentation</vt:lpstr>
      <vt:lpstr>Rudimentary idea #1</vt:lpstr>
      <vt:lpstr>Rudimentary idea #1</vt:lpstr>
      <vt:lpstr>Rudimentary idea #2</vt:lpstr>
      <vt:lpstr>Rudimentary idea #2</vt:lpstr>
      <vt:lpstr>Rudimentary idea #2.1</vt:lpstr>
      <vt:lpstr>Rudimentary idea #2.1</vt:lpstr>
      <vt:lpstr>Rudimentary idea #2.1</vt:lpstr>
      <vt:lpstr>Rudimentary idea #2.2</vt:lpstr>
      <vt:lpstr>PowerPoint Presentation</vt:lpstr>
      <vt:lpstr>PowerPoint Presentation</vt:lpstr>
      <vt:lpstr>PowerPoint Presentation</vt:lpstr>
      <vt:lpstr>Optimization Idea</vt:lpstr>
      <vt:lpstr>Optimization Idea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Malloc Lab</dc:title>
  <dc:creator>Jason Math</dc:creator>
  <cp:lastModifiedBy>Jason Math</cp:lastModifiedBy>
  <cp:revision>15</cp:revision>
  <dcterms:created xsi:type="dcterms:W3CDTF">2023-11-06T00:57:28Z</dcterms:created>
  <dcterms:modified xsi:type="dcterms:W3CDTF">2023-11-07T20:53:18Z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